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298D1DE-FB16-4C4E-B1BE-106658D9981E}" type="datetimeFigureOut">
              <a:rPr lang="en-IN" smtClean="0"/>
              <a:t>31-12-2025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465249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8D1DE-FB16-4C4E-B1BE-106658D9981E}" type="datetimeFigureOut">
              <a:rPr lang="en-IN" smtClean="0"/>
              <a:t>31-12-2025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3521344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98D1DE-FB16-4C4E-B1BE-106658D9981E}" type="datetimeFigureOut">
              <a:rPr lang="en-IN" smtClean="0"/>
              <a:t>31-12-2025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612893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438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98D1DE-FB16-4C4E-B1BE-106658D9981E}" type="datetimeFigureOut">
              <a:rPr lang="en-IN" smtClean="0"/>
              <a:t>31-12-2025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50383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98D1DE-FB16-4C4E-B1BE-106658D9981E}" type="datetimeFigureOut">
              <a:rPr lang="en-IN" smtClean="0"/>
              <a:t>31-12-2025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753505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98D1DE-FB16-4C4E-B1BE-106658D9981E}" type="datetimeFigureOut">
              <a:rPr lang="en-IN" smtClean="0"/>
              <a:t>31-12-2025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923226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921258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967116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214685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970181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03939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98D1DE-FB16-4C4E-B1BE-106658D9981E}" type="datetimeFigureOut">
              <a:rPr lang="en-IN" smtClean="0"/>
              <a:t>31-12-2025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194297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298D1DE-FB16-4C4E-B1BE-106658D9981E}" type="datetimeFigureOut">
              <a:rPr lang="en-IN" smtClean="0"/>
              <a:t>31-12-2025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2637830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298D1DE-FB16-4C4E-B1BE-106658D9981E}" type="datetimeFigureOut">
              <a:rPr lang="en-IN" smtClean="0"/>
              <a:t>31-12-2025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3927083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8D1DE-FB16-4C4E-B1BE-106658D9981E}" type="datetimeFigureOut">
              <a:rPr lang="en-IN" smtClean="0"/>
              <a:t>31-12-2025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1158669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8D1DE-FB16-4C4E-B1BE-106658D9981E}" type="datetimeFigureOut">
              <a:rPr lang="en-IN" smtClean="0"/>
              <a:t>31-12-2025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664EFA-01E7-4B47-8F60-ED5A6E04F1EF}" type="slidenum">
              <a:rPr lang="en-IN" smtClean="0"/>
              <a:t>‹#›</a:t>
            </a:fld>
            <a:endParaRPr lang="en-IN"/>
          </a:p>
        </p:txBody>
      </p:sp>
    </p:spTree>
    <p:extLst>
      <p:ext uri="{BB962C8B-B14F-4D97-AF65-F5344CB8AC3E}">
        <p14:creationId xmlns:p14="http://schemas.microsoft.com/office/powerpoint/2010/main" val="2494525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298D1DE-FB16-4C4E-B1BE-106658D9981E}" type="datetimeFigureOut">
              <a:rPr lang="en-IN" smtClean="0"/>
              <a:t>31-12-2025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B664EFA-01E7-4B47-8F60-ED5A6E04F1EF}" type="slidenum">
              <a:rPr lang="en-IN" smtClean="0"/>
              <a:t>‹#›</a:t>
            </a:fld>
            <a:endParaRPr lang="en-IN"/>
          </a:p>
        </p:txBody>
      </p:sp>
    </p:spTree>
    <p:extLst>
      <p:ext uri="{BB962C8B-B14F-4D97-AF65-F5344CB8AC3E}">
        <p14:creationId xmlns:p14="http://schemas.microsoft.com/office/powerpoint/2010/main" val="2635458979"/>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89885B-CFCC-4C4F-BAF1-A8EA810EA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71696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687F3AA-7DAC-4838-8020-59126C7C3934}"/>
              </a:ext>
            </a:extLst>
          </p:cNvPr>
          <p:cNvSpPr/>
          <p:nvPr/>
        </p:nvSpPr>
        <p:spPr>
          <a:xfrm>
            <a:off x="0" y="429996"/>
            <a:ext cx="12192000" cy="5447645"/>
          </a:xfrm>
          <a:prstGeom prst="rect">
            <a:avLst/>
          </a:prstGeom>
        </p:spPr>
        <p:txBody>
          <a:bodyPr wrap="square">
            <a:spAutoFit/>
          </a:bodyPr>
          <a:lstStyle/>
          <a:p>
            <a:pPr algn="ctr"/>
            <a:r>
              <a:rPr lang="en-IN" sz="4000" dirty="0"/>
              <a:t>  </a:t>
            </a:r>
            <a:r>
              <a:rPr lang="en-IN" sz="4000" dirty="0">
                <a:solidFill>
                  <a:schemeClr val="bg1"/>
                </a:solidFill>
              </a:rPr>
              <a:t>Northwind Dataset – Business Overview      </a:t>
            </a:r>
          </a:p>
          <a:p>
            <a:pPr algn="ctr"/>
            <a:endParaRPr lang="en-IN" sz="2800" dirty="0">
              <a:highlight>
                <a:srgbClr val="808000"/>
              </a:highlight>
            </a:endParaRPr>
          </a:p>
          <a:p>
            <a:pPr algn="just"/>
            <a:r>
              <a:rPr lang="en-IN" sz="2800" dirty="0"/>
              <a:t>                                                                                                                                         	   	   Northwind is a sample business dataset representing a trading  company   	that deals in food and beverage products.</a:t>
            </a:r>
          </a:p>
          <a:p>
            <a:pPr algn="just"/>
            <a:endParaRPr lang="en-IN" sz="2800" dirty="0"/>
          </a:p>
          <a:p>
            <a:pPr algn="just"/>
            <a:r>
              <a:rPr lang="en-US" sz="2800" dirty="0"/>
              <a:t>	        It covers multiple product categories such as Beverages, Dairy, Seafood, 	Produce, and Confections.</a:t>
            </a:r>
          </a:p>
          <a:p>
            <a:pPr algn="just"/>
            <a:endParaRPr lang="en-US" sz="2800" dirty="0"/>
          </a:p>
          <a:p>
            <a:pPr algn="just"/>
            <a:r>
              <a:rPr lang="en-US" sz="2800" dirty="0"/>
              <a:t>	     The dataset contains structured business data including Customers, 	   	Employees, Products, Orders, and Order Details, commonly used for SQL 	and BI    	analysis.</a:t>
            </a:r>
            <a:endParaRPr lang="en-IN" sz="2800" dirty="0"/>
          </a:p>
        </p:txBody>
      </p:sp>
      <p:sp>
        <p:nvSpPr>
          <p:cNvPr id="7" name="Arrow: Right 6">
            <a:extLst>
              <a:ext uri="{FF2B5EF4-FFF2-40B4-BE49-F238E27FC236}">
                <a16:creationId xmlns:a16="http://schemas.microsoft.com/office/drawing/2014/main" id="{63F9F1A1-7BC7-45C2-BB06-06C197A1CE00}"/>
              </a:ext>
            </a:extLst>
          </p:cNvPr>
          <p:cNvSpPr/>
          <p:nvPr/>
        </p:nvSpPr>
        <p:spPr>
          <a:xfrm>
            <a:off x="203197" y="2065247"/>
            <a:ext cx="348343" cy="1886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A6BCF28A-9E36-431B-9D59-7FDD29ED5461}"/>
              </a:ext>
            </a:extLst>
          </p:cNvPr>
          <p:cNvSpPr/>
          <p:nvPr/>
        </p:nvSpPr>
        <p:spPr>
          <a:xfrm>
            <a:off x="203196" y="4604067"/>
            <a:ext cx="348343" cy="1886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66A2E4AA-AEAC-408D-8BF9-11CE77ECCA02}"/>
              </a:ext>
            </a:extLst>
          </p:cNvPr>
          <p:cNvSpPr/>
          <p:nvPr/>
        </p:nvSpPr>
        <p:spPr>
          <a:xfrm>
            <a:off x="203197" y="3334657"/>
            <a:ext cx="348343" cy="1886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0945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593D2-5B79-4253-BBAF-138238705099}"/>
              </a:ext>
            </a:extLst>
          </p:cNvPr>
          <p:cNvSpPr>
            <a:spLocks noGrp="1"/>
          </p:cNvSpPr>
          <p:nvPr>
            <p:ph idx="1"/>
          </p:nvPr>
        </p:nvSpPr>
        <p:spPr/>
        <p:txBody>
          <a:bodyPr/>
          <a:lstStyle/>
          <a:p>
            <a:pPr marL="0" indent="0">
              <a:buNone/>
            </a:pPr>
            <a:r>
              <a:rPr lang="en-US" dirty="0"/>
              <a:t>                          </a:t>
            </a:r>
            <a:r>
              <a:rPr lang="en-US" sz="3200" dirty="0"/>
              <a:t>• SQL – Data Extraction &amp; Transformation</a:t>
            </a:r>
            <a:br>
              <a:rPr lang="en-US" sz="3200" dirty="0"/>
            </a:br>
            <a:r>
              <a:rPr lang="en-US" sz="3200" dirty="0"/>
              <a:t>                     </a:t>
            </a:r>
          </a:p>
          <a:p>
            <a:pPr marL="0" indent="0">
              <a:buNone/>
            </a:pPr>
            <a:r>
              <a:rPr lang="en-US" sz="3200" dirty="0"/>
              <a:t>                   • Power BI – Visualization &amp; Reporting</a:t>
            </a:r>
            <a:endParaRPr lang="en-IN" sz="3200" dirty="0"/>
          </a:p>
        </p:txBody>
      </p:sp>
      <p:sp>
        <p:nvSpPr>
          <p:cNvPr id="5" name="Title 4">
            <a:extLst>
              <a:ext uri="{FF2B5EF4-FFF2-40B4-BE49-F238E27FC236}">
                <a16:creationId xmlns:a16="http://schemas.microsoft.com/office/drawing/2014/main" id="{585C3AD5-FD1A-4B2F-9147-765E25F5DA7B}"/>
              </a:ext>
            </a:extLst>
          </p:cNvPr>
          <p:cNvSpPr>
            <a:spLocks noGrp="1"/>
          </p:cNvSpPr>
          <p:nvPr>
            <p:ph type="title"/>
          </p:nvPr>
        </p:nvSpPr>
        <p:spPr>
          <a:xfrm>
            <a:off x="1141413" y="618518"/>
            <a:ext cx="9905998" cy="1478570"/>
          </a:xfrm>
        </p:spPr>
        <p:txBody>
          <a:bodyPr/>
          <a:lstStyle/>
          <a:p>
            <a:r>
              <a:rPr lang="en-IN" dirty="0"/>
              <a:t>                  </a:t>
            </a:r>
            <a:r>
              <a:rPr lang="en-IN" sz="4400" dirty="0">
                <a:solidFill>
                  <a:schemeClr val="bg1"/>
                </a:solidFill>
              </a:rPr>
              <a:t>Technology Stack</a:t>
            </a:r>
          </a:p>
        </p:txBody>
      </p:sp>
    </p:spTree>
    <p:extLst>
      <p:ext uri="{BB962C8B-B14F-4D97-AF65-F5344CB8AC3E}">
        <p14:creationId xmlns:p14="http://schemas.microsoft.com/office/powerpoint/2010/main" val="2856913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0E6F6-1065-4539-B35B-717201A22B20}"/>
              </a:ext>
            </a:extLst>
          </p:cNvPr>
          <p:cNvSpPr>
            <a:spLocks noGrp="1"/>
          </p:cNvSpPr>
          <p:nvPr>
            <p:ph type="title"/>
          </p:nvPr>
        </p:nvSpPr>
        <p:spPr/>
        <p:txBody>
          <a:bodyPr/>
          <a:lstStyle/>
          <a:p>
            <a:r>
              <a:rPr lang="en-IN" dirty="0">
                <a:solidFill>
                  <a:schemeClr val="bg1"/>
                </a:solidFill>
              </a:rPr>
              <a:t>Steps Followed</a:t>
            </a:r>
            <a:r>
              <a:rPr lang="en-IN" dirty="0"/>
              <a:t>:</a:t>
            </a:r>
          </a:p>
        </p:txBody>
      </p:sp>
      <p:sp>
        <p:nvSpPr>
          <p:cNvPr id="3" name="Content Placeholder 2">
            <a:extLst>
              <a:ext uri="{FF2B5EF4-FFF2-40B4-BE49-F238E27FC236}">
                <a16:creationId xmlns:a16="http://schemas.microsoft.com/office/drawing/2014/main" id="{6E133751-8D7B-4D4A-90EE-B096060A43F0}"/>
              </a:ext>
            </a:extLst>
          </p:cNvPr>
          <p:cNvSpPr>
            <a:spLocks noGrp="1"/>
          </p:cNvSpPr>
          <p:nvPr>
            <p:ph idx="1"/>
          </p:nvPr>
        </p:nvSpPr>
        <p:spPr/>
        <p:txBody>
          <a:bodyPr/>
          <a:lstStyle/>
          <a:p>
            <a:r>
              <a:rPr lang="en-US" dirty="0"/>
              <a:t>Imported the Northwind sample database into SQL Server to establish the data source.</a:t>
            </a:r>
          </a:p>
          <a:p>
            <a:r>
              <a:rPr lang="en-US" dirty="0"/>
              <a:t>Applied SQL queries and functions (such as joins, filters, and aggregations) to analyze the data and answer business-related questions.</a:t>
            </a:r>
          </a:p>
          <a:p>
            <a:r>
              <a:rPr lang="en-US" dirty="0"/>
              <a:t>Loaded the processed data into Power BI to design interactive dashboards and visualizations for insights.</a:t>
            </a:r>
            <a:endParaRPr lang="en-IN" dirty="0"/>
          </a:p>
        </p:txBody>
      </p:sp>
    </p:spTree>
    <p:extLst>
      <p:ext uri="{BB962C8B-B14F-4D97-AF65-F5344CB8AC3E}">
        <p14:creationId xmlns:p14="http://schemas.microsoft.com/office/powerpoint/2010/main" val="1898527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2BF36-C720-4054-BC50-504F3D7E4019}"/>
              </a:ext>
            </a:extLst>
          </p:cNvPr>
          <p:cNvSpPr>
            <a:spLocks noGrp="1"/>
          </p:cNvSpPr>
          <p:nvPr>
            <p:ph type="title"/>
          </p:nvPr>
        </p:nvSpPr>
        <p:spPr/>
        <p:txBody>
          <a:bodyPr>
            <a:normAutofit/>
          </a:bodyPr>
          <a:lstStyle/>
          <a:p>
            <a:r>
              <a:rPr lang="en-US" sz="2400" dirty="0">
                <a:solidFill>
                  <a:schemeClr val="bg1"/>
                </a:solidFill>
              </a:rPr>
              <a:t>1. Write a SQL query to display the </a:t>
            </a:r>
            <a:r>
              <a:rPr lang="en-US" sz="2400" b="1" dirty="0">
                <a:solidFill>
                  <a:schemeClr val="bg1"/>
                </a:solidFill>
              </a:rPr>
              <a:t>first name, last name, and hiring date</a:t>
            </a:r>
            <a:r>
              <a:rPr lang="en-US" sz="2400" dirty="0">
                <a:solidFill>
                  <a:schemeClr val="bg1"/>
                </a:solidFill>
              </a:rPr>
              <a:t> of all employees who are designated as </a:t>
            </a:r>
            <a:r>
              <a:rPr lang="en-US" sz="2400" b="1" dirty="0">
                <a:solidFill>
                  <a:schemeClr val="bg1"/>
                </a:solidFill>
              </a:rPr>
              <a:t>Sales Representatives</a:t>
            </a:r>
            <a:r>
              <a:rPr lang="en-US" sz="2400" dirty="0">
                <a:solidFill>
                  <a:schemeClr val="bg1"/>
                </a:solidFill>
              </a:rPr>
              <a:t>.</a:t>
            </a:r>
            <a:br>
              <a:rPr lang="en-US" sz="2400" dirty="0">
                <a:solidFill>
                  <a:schemeClr val="bg1"/>
                </a:solidFill>
              </a:rPr>
            </a:br>
            <a:endParaRPr lang="en-IN" sz="2400" dirty="0">
              <a:solidFill>
                <a:schemeClr val="bg1"/>
              </a:solidFill>
            </a:endParaRPr>
          </a:p>
        </p:txBody>
      </p:sp>
      <p:sp>
        <p:nvSpPr>
          <p:cNvPr id="3" name="Content Placeholder 2">
            <a:extLst>
              <a:ext uri="{FF2B5EF4-FFF2-40B4-BE49-F238E27FC236}">
                <a16:creationId xmlns:a16="http://schemas.microsoft.com/office/drawing/2014/main" id="{BC6BA6A2-D5B3-4C71-87C3-B66A3BE2BF83}"/>
              </a:ext>
            </a:extLst>
          </p:cNvPr>
          <p:cNvSpPr>
            <a:spLocks noGrp="1"/>
          </p:cNvSpPr>
          <p:nvPr>
            <p:ph idx="1"/>
          </p:nvPr>
        </p:nvSpPr>
        <p:spPr>
          <a:xfrm>
            <a:off x="1141412" y="1930400"/>
            <a:ext cx="9905999" cy="4309082"/>
          </a:xfrm>
        </p:spPr>
        <p:txBody>
          <a:bodyPr>
            <a:normAutofit fontScale="92500" lnSpcReduction="10000"/>
          </a:bodyPr>
          <a:lstStyle/>
          <a:p>
            <a:pPr marL="0" indent="0">
              <a:buNone/>
            </a:pPr>
            <a:r>
              <a:rPr lang="en-US" sz="1500" dirty="0"/>
              <a:t> </a:t>
            </a:r>
            <a:r>
              <a:rPr lang="en-IN" sz="1500" dirty="0"/>
              <a:t>    </a:t>
            </a:r>
            <a:r>
              <a:rPr lang="en-IN" sz="2600" dirty="0"/>
              <a:t>Select </a:t>
            </a:r>
            <a:r>
              <a:rPr lang="en-IN" sz="2600" dirty="0" err="1"/>
              <a:t>Firstname</a:t>
            </a:r>
            <a:r>
              <a:rPr lang="en-IN" sz="2600" dirty="0"/>
              <a:t>, </a:t>
            </a:r>
            <a:r>
              <a:rPr lang="en-IN" sz="2600" dirty="0" err="1"/>
              <a:t>lastname</a:t>
            </a:r>
            <a:r>
              <a:rPr lang="en-IN" sz="2600" dirty="0"/>
              <a:t> , </a:t>
            </a:r>
            <a:r>
              <a:rPr lang="en-IN" sz="2600" dirty="0" err="1"/>
              <a:t>Hiredate</a:t>
            </a:r>
            <a:r>
              <a:rPr lang="en-IN" sz="2600" dirty="0"/>
              <a:t> </a:t>
            </a:r>
          </a:p>
          <a:p>
            <a:pPr marL="0" indent="0">
              <a:buNone/>
            </a:pPr>
            <a:r>
              <a:rPr lang="en-IN" sz="2600" dirty="0"/>
              <a:t>   from [</a:t>
            </a:r>
            <a:r>
              <a:rPr lang="en-IN" sz="2600" dirty="0" err="1"/>
              <a:t>dbo</a:t>
            </a:r>
            <a:r>
              <a:rPr lang="en-IN" sz="2600" dirty="0"/>
              <a:t>].[Employees]   </a:t>
            </a:r>
          </a:p>
          <a:p>
            <a:pPr marL="0" indent="0">
              <a:buNone/>
            </a:pPr>
            <a:r>
              <a:rPr lang="en-IN" sz="2600" dirty="0"/>
              <a:t>   where title = 'sales Representative’</a:t>
            </a:r>
            <a:r>
              <a:rPr lang="en-US" b="1" dirty="0"/>
              <a:t>                    </a:t>
            </a:r>
            <a:endParaRPr lang="en-IN" b="1" dirty="0">
              <a:solidFill>
                <a:schemeClr val="bg1"/>
              </a:solidFill>
            </a:endParaRPr>
          </a:p>
          <a:p>
            <a:pPr marL="0" indent="0">
              <a:buNone/>
            </a:pPr>
            <a:r>
              <a:rPr lang="en-IN" b="1" dirty="0">
                <a:solidFill>
                  <a:schemeClr val="bg1"/>
                </a:solidFill>
              </a:rPr>
              <a:t>First name		Last name	     	       Hire Date</a:t>
            </a:r>
          </a:p>
          <a:p>
            <a:pPr marL="0" indent="0">
              <a:buNone/>
            </a:pPr>
            <a:r>
              <a:rPr lang="en-IN" sz="1500" dirty="0"/>
              <a:t>Nancy			</a:t>
            </a:r>
            <a:r>
              <a:rPr lang="en-IN" sz="1500" dirty="0" err="1"/>
              <a:t>Davolio</a:t>
            </a:r>
            <a:r>
              <a:rPr lang="en-IN" sz="1500" dirty="0"/>
              <a:t>			  2010-05-01 00:00:00.000</a:t>
            </a:r>
          </a:p>
          <a:p>
            <a:pPr marL="0" indent="0">
              <a:buNone/>
            </a:pPr>
            <a:r>
              <a:rPr lang="en-IN" sz="1500" dirty="0"/>
              <a:t>Janet			</a:t>
            </a:r>
            <a:r>
              <a:rPr lang="en-IN" sz="1500" dirty="0" err="1"/>
              <a:t>Leverling</a:t>
            </a:r>
            <a:r>
              <a:rPr lang="en-IN" sz="1500" dirty="0"/>
              <a:t>	 		  2010-04-01 00:00:00.000</a:t>
            </a:r>
          </a:p>
          <a:p>
            <a:pPr marL="0" indent="0">
              <a:buNone/>
            </a:pPr>
            <a:r>
              <a:rPr lang="en-IN" sz="1500" dirty="0"/>
              <a:t>Margaret			Peacock	  		  2011-05-03 00:00:00.000</a:t>
            </a:r>
          </a:p>
          <a:p>
            <a:pPr marL="0" indent="0">
              <a:buNone/>
            </a:pPr>
            <a:r>
              <a:rPr lang="en-IN" sz="1500" dirty="0"/>
              <a:t>Michael			</a:t>
            </a:r>
            <a:r>
              <a:rPr lang="en-IN" sz="1500" dirty="0" err="1"/>
              <a:t>Suyama</a:t>
            </a:r>
            <a:r>
              <a:rPr lang="en-IN" sz="1500" dirty="0"/>
              <a:t>	  		 2011-10-17 00:00:00.000</a:t>
            </a:r>
          </a:p>
          <a:p>
            <a:pPr marL="0" indent="0">
              <a:buNone/>
            </a:pPr>
            <a:r>
              <a:rPr lang="en-IN" sz="1500" dirty="0"/>
              <a:t>Robert			King	 		 2012-01-02 00:00:00.000</a:t>
            </a:r>
          </a:p>
          <a:p>
            <a:pPr marL="0" indent="0">
              <a:buNone/>
            </a:pPr>
            <a:r>
              <a:rPr lang="en-IN" sz="1500" dirty="0"/>
              <a:t>Anne			</a:t>
            </a:r>
            <a:r>
              <a:rPr lang="en-IN" sz="1500" dirty="0" err="1"/>
              <a:t>Dodsworth</a:t>
            </a:r>
            <a:r>
              <a:rPr lang="en-IN" sz="1500" dirty="0"/>
              <a:t>	  		 2012-11-15 00:00:00.000</a:t>
            </a:r>
          </a:p>
          <a:p>
            <a:pPr marL="0" indent="0">
              <a:buNone/>
            </a:pPr>
            <a:endParaRPr lang="en-IN" sz="1600" dirty="0"/>
          </a:p>
        </p:txBody>
      </p:sp>
    </p:spTree>
    <p:extLst>
      <p:ext uri="{BB962C8B-B14F-4D97-AF65-F5344CB8AC3E}">
        <p14:creationId xmlns:p14="http://schemas.microsoft.com/office/powerpoint/2010/main" val="3136803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CECEB-79DC-468C-8CED-E2F0A50292E1}"/>
              </a:ext>
            </a:extLst>
          </p:cNvPr>
          <p:cNvSpPr>
            <a:spLocks noGrp="1"/>
          </p:cNvSpPr>
          <p:nvPr>
            <p:ph type="title"/>
          </p:nvPr>
        </p:nvSpPr>
        <p:spPr/>
        <p:txBody>
          <a:bodyPr>
            <a:normAutofit/>
          </a:bodyPr>
          <a:lstStyle/>
          <a:p>
            <a:r>
              <a:rPr lang="en-US" sz="2400" dirty="0">
                <a:solidFill>
                  <a:schemeClr val="bg1"/>
                </a:solidFill>
              </a:rPr>
              <a:t>2 How would you extract supplier details (</a:t>
            </a:r>
            <a:r>
              <a:rPr lang="en-US" sz="2400" b="1" dirty="0">
                <a:solidFill>
                  <a:schemeClr val="bg1"/>
                </a:solidFill>
              </a:rPr>
              <a:t>Supplier ID, Contact Name, Contact Title</a:t>
            </a:r>
            <a:r>
              <a:rPr lang="en-US" sz="2400" dirty="0">
                <a:solidFill>
                  <a:schemeClr val="bg1"/>
                </a:solidFill>
              </a:rPr>
              <a:t>) for all suppliers </a:t>
            </a:r>
            <a:r>
              <a:rPr lang="en-US" sz="2400" b="1" dirty="0">
                <a:solidFill>
                  <a:schemeClr val="bg1"/>
                </a:solidFill>
              </a:rPr>
              <a:t>except</a:t>
            </a:r>
            <a:r>
              <a:rPr lang="en-US" sz="2400" dirty="0">
                <a:solidFill>
                  <a:schemeClr val="bg1"/>
                </a:solidFill>
              </a:rPr>
              <a:t> those with the title </a:t>
            </a:r>
            <a:r>
              <a:rPr lang="en-US" sz="2400" b="1" dirty="0">
                <a:solidFill>
                  <a:schemeClr val="bg1"/>
                </a:solidFill>
              </a:rPr>
              <a:t>Marketing Manager ?</a:t>
            </a:r>
            <a:endParaRPr lang="en-IN" sz="2400" dirty="0">
              <a:solidFill>
                <a:schemeClr val="bg1"/>
              </a:solidFill>
            </a:endParaRPr>
          </a:p>
        </p:txBody>
      </p:sp>
      <p:sp>
        <p:nvSpPr>
          <p:cNvPr id="3" name="Content Placeholder 2">
            <a:extLst>
              <a:ext uri="{FF2B5EF4-FFF2-40B4-BE49-F238E27FC236}">
                <a16:creationId xmlns:a16="http://schemas.microsoft.com/office/drawing/2014/main" id="{8E56DA74-F778-411D-BC32-F0E28FE802C6}"/>
              </a:ext>
            </a:extLst>
          </p:cNvPr>
          <p:cNvSpPr>
            <a:spLocks noGrp="1"/>
          </p:cNvSpPr>
          <p:nvPr>
            <p:ph idx="1"/>
          </p:nvPr>
        </p:nvSpPr>
        <p:spPr>
          <a:xfrm>
            <a:off x="1141412" y="1886858"/>
            <a:ext cx="9905999" cy="4804228"/>
          </a:xfrm>
        </p:spPr>
        <p:txBody>
          <a:bodyPr>
            <a:normAutofit fontScale="85000" lnSpcReduction="20000"/>
          </a:bodyPr>
          <a:lstStyle/>
          <a:p>
            <a:pPr marL="0" indent="0">
              <a:buNone/>
            </a:pPr>
            <a:r>
              <a:rPr lang="en-IN" dirty="0"/>
              <a:t>   Select </a:t>
            </a:r>
            <a:r>
              <a:rPr lang="en-IN" dirty="0" err="1"/>
              <a:t>SupplierID,ContactName,ContactTitle</a:t>
            </a:r>
            <a:endParaRPr lang="en-IN" dirty="0"/>
          </a:p>
          <a:p>
            <a:pPr marL="0" indent="0">
              <a:buNone/>
            </a:pPr>
            <a:r>
              <a:rPr lang="en-IN" dirty="0"/>
              <a:t>   from [</a:t>
            </a:r>
            <a:r>
              <a:rPr lang="en-IN" dirty="0" err="1"/>
              <a:t>dbo</a:t>
            </a:r>
            <a:r>
              <a:rPr lang="en-IN" dirty="0"/>
              <a:t>].[Suppliers]</a:t>
            </a:r>
          </a:p>
          <a:p>
            <a:pPr marL="0" indent="0">
              <a:buNone/>
            </a:pPr>
            <a:r>
              <a:rPr lang="en-IN" dirty="0"/>
              <a:t>   where </a:t>
            </a:r>
            <a:r>
              <a:rPr lang="en-IN" dirty="0" err="1"/>
              <a:t>ContactTitle</a:t>
            </a:r>
            <a:r>
              <a:rPr lang="en-IN" dirty="0"/>
              <a:t> &lt;&gt; 'Marketing Manager’ -------- (24 rows affected)</a:t>
            </a:r>
          </a:p>
          <a:p>
            <a:pPr marL="0" indent="0">
              <a:buNone/>
            </a:pPr>
            <a:r>
              <a:rPr lang="en-US" dirty="0"/>
              <a:t>       </a:t>
            </a:r>
            <a:r>
              <a:rPr lang="en-US" b="1" dirty="0">
                <a:solidFill>
                  <a:schemeClr val="bg1"/>
                </a:solidFill>
              </a:rPr>
              <a:t>Supplier ID 		Contact Name 			    </a:t>
            </a:r>
            <a:r>
              <a:rPr lang="en-US" b="1" dirty="0" err="1">
                <a:solidFill>
                  <a:schemeClr val="bg1"/>
                </a:solidFill>
              </a:rPr>
              <a:t>ContactTitle</a:t>
            </a:r>
            <a:endParaRPr lang="en-IN" b="1" dirty="0">
              <a:solidFill>
                <a:schemeClr val="bg1"/>
              </a:solidFill>
            </a:endParaRPr>
          </a:p>
          <a:p>
            <a:pPr marL="0" indent="0">
              <a:buNone/>
            </a:pPr>
            <a:r>
              <a:rPr lang="en-IN" dirty="0"/>
              <a:t>	1		Charlotte Cooper			Purchasing Manager</a:t>
            </a:r>
          </a:p>
          <a:p>
            <a:pPr marL="0" indent="0">
              <a:buNone/>
            </a:pPr>
            <a:r>
              <a:rPr lang="en-IN" dirty="0"/>
              <a:t>	2		Shelley Burke			Order Administrator</a:t>
            </a:r>
          </a:p>
          <a:p>
            <a:pPr marL="0" indent="0">
              <a:buNone/>
            </a:pPr>
            <a:r>
              <a:rPr lang="en-IN" dirty="0"/>
              <a:t>	3		Regina Murphy			Sales Representative</a:t>
            </a:r>
          </a:p>
          <a:p>
            <a:pPr marL="0" indent="0">
              <a:buNone/>
            </a:pPr>
            <a:r>
              <a:rPr lang="en-IN" dirty="0"/>
              <a:t>	5		Antonio del Valle Saavedra	Export Administrator</a:t>
            </a:r>
          </a:p>
          <a:p>
            <a:pPr marL="0" indent="0">
              <a:buNone/>
            </a:pPr>
            <a:r>
              <a:rPr lang="en-IN" dirty="0"/>
              <a:t>	6		Mayumi Ohno			Marketing Representative</a:t>
            </a:r>
          </a:p>
          <a:p>
            <a:pPr marL="0" indent="0">
              <a:buNone/>
            </a:pPr>
            <a:r>
              <a:rPr lang="en-IN" dirty="0"/>
              <a:t>	8		Peter Wilson			Sales Representative</a:t>
            </a:r>
          </a:p>
          <a:p>
            <a:pPr marL="0" indent="0">
              <a:buNone/>
            </a:pPr>
            <a:r>
              <a:rPr lang="en-IN" dirty="0"/>
              <a:t>	9		Lars Peterson			Sales Agent</a:t>
            </a:r>
          </a:p>
        </p:txBody>
      </p:sp>
    </p:spTree>
    <p:extLst>
      <p:ext uri="{BB962C8B-B14F-4D97-AF65-F5344CB8AC3E}">
        <p14:creationId xmlns:p14="http://schemas.microsoft.com/office/powerpoint/2010/main" val="265621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281CD-A30F-4A17-B470-0AF8CDFA284F}"/>
              </a:ext>
            </a:extLst>
          </p:cNvPr>
          <p:cNvSpPr>
            <a:spLocks noGrp="1"/>
          </p:cNvSpPr>
          <p:nvPr>
            <p:ph type="title"/>
          </p:nvPr>
        </p:nvSpPr>
        <p:spPr/>
        <p:txBody>
          <a:bodyPr>
            <a:normAutofit/>
          </a:bodyPr>
          <a:lstStyle/>
          <a:p>
            <a:r>
              <a:rPr lang="en-US" sz="2400" dirty="0">
                <a:solidFill>
                  <a:schemeClr val="bg1"/>
                </a:solidFill>
              </a:rPr>
              <a:t>4.A company wants to analyze orders delivered to </a:t>
            </a:r>
            <a:r>
              <a:rPr lang="en-US" sz="2400" b="1" dirty="0">
                <a:solidFill>
                  <a:schemeClr val="bg1"/>
                </a:solidFill>
              </a:rPr>
              <a:t>France and Belgium</a:t>
            </a:r>
            <a:r>
              <a:rPr lang="en-US" sz="2400" dirty="0">
                <a:solidFill>
                  <a:schemeClr val="bg1"/>
                </a:solidFill>
              </a:rPr>
              <a:t>. Using the </a:t>
            </a:r>
            <a:r>
              <a:rPr lang="en-US" sz="2400" b="1" dirty="0">
                <a:solidFill>
                  <a:schemeClr val="bg1"/>
                </a:solidFill>
              </a:rPr>
              <a:t>Orders</a:t>
            </a:r>
            <a:r>
              <a:rPr lang="en-US" sz="2400" dirty="0">
                <a:solidFill>
                  <a:schemeClr val="bg1"/>
                </a:solidFill>
              </a:rPr>
              <a:t> table, write a SQL query that displays </a:t>
            </a:r>
            <a:r>
              <a:rPr lang="en-US" sz="2400" b="1" dirty="0">
                <a:solidFill>
                  <a:schemeClr val="bg1"/>
                </a:solidFill>
              </a:rPr>
              <a:t>Order ID, Customer ID, and Ship Country</a:t>
            </a:r>
            <a:r>
              <a:rPr lang="en-US" sz="2400" dirty="0">
                <a:solidFill>
                  <a:schemeClr val="bg1"/>
                </a:solidFill>
              </a:rPr>
              <a:t> for those shipments.</a:t>
            </a:r>
            <a:endParaRPr lang="en-IN" sz="2400" dirty="0">
              <a:solidFill>
                <a:schemeClr val="bg1"/>
              </a:solidFill>
            </a:endParaRPr>
          </a:p>
        </p:txBody>
      </p:sp>
      <p:pic>
        <p:nvPicPr>
          <p:cNvPr id="7" name="Content Placeholder 6">
            <a:extLst>
              <a:ext uri="{FF2B5EF4-FFF2-40B4-BE49-F238E27FC236}">
                <a16:creationId xmlns:a16="http://schemas.microsoft.com/office/drawing/2014/main" id="{89876FBA-5235-41A7-B690-4BBBC6710FB0}"/>
              </a:ext>
            </a:extLst>
          </p:cNvPr>
          <p:cNvPicPr>
            <a:picLocks noGrp="1" noChangeAspect="1"/>
          </p:cNvPicPr>
          <p:nvPr>
            <p:ph idx="1"/>
          </p:nvPr>
        </p:nvPicPr>
        <p:blipFill>
          <a:blip r:embed="rId2"/>
          <a:stretch>
            <a:fillRect/>
          </a:stretch>
        </p:blipFill>
        <p:spPr>
          <a:xfrm>
            <a:off x="6255657" y="3271517"/>
            <a:ext cx="4617582" cy="3542841"/>
          </a:xfrm>
          <a:prstGeom prst="rect">
            <a:avLst/>
          </a:prstGeom>
        </p:spPr>
      </p:pic>
      <p:sp>
        <p:nvSpPr>
          <p:cNvPr id="8" name="Rectangle 7">
            <a:extLst>
              <a:ext uri="{FF2B5EF4-FFF2-40B4-BE49-F238E27FC236}">
                <a16:creationId xmlns:a16="http://schemas.microsoft.com/office/drawing/2014/main" id="{3927C7E8-3C96-4AA3-B326-354B20E0B589}"/>
              </a:ext>
            </a:extLst>
          </p:cNvPr>
          <p:cNvSpPr/>
          <p:nvPr/>
        </p:nvSpPr>
        <p:spPr>
          <a:xfrm>
            <a:off x="995083" y="1963381"/>
            <a:ext cx="6102404" cy="1200329"/>
          </a:xfrm>
          <a:prstGeom prst="rect">
            <a:avLst/>
          </a:prstGeom>
        </p:spPr>
        <p:txBody>
          <a:bodyPr wrap="square">
            <a:spAutoFit/>
          </a:bodyPr>
          <a:lstStyle/>
          <a:p>
            <a:r>
              <a:rPr lang="en-IN" dirty="0">
                <a:latin typeface="Consolas" panose="020B0609020204030204" pitchFamily="49" charset="0"/>
              </a:rPr>
              <a:t>Select </a:t>
            </a:r>
            <a:r>
              <a:rPr lang="en-IN" dirty="0" err="1">
                <a:latin typeface="Consolas" panose="020B0609020204030204" pitchFamily="49" charset="0"/>
              </a:rPr>
              <a:t>OrderID,CustomerID,ShipCountry</a:t>
            </a:r>
            <a:endParaRPr lang="en-IN" dirty="0">
              <a:latin typeface="Consolas" panose="020B0609020204030204" pitchFamily="49" charset="0"/>
            </a:endParaRPr>
          </a:p>
          <a:p>
            <a:r>
              <a:rPr lang="en-IN" dirty="0">
                <a:latin typeface="Consolas" panose="020B0609020204030204" pitchFamily="49" charset="0"/>
              </a:rPr>
              <a:t>from [</a:t>
            </a:r>
            <a:r>
              <a:rPr lang="en-IN" dirty="0" err="1">
                <a:latin typeface="Consolas" panose="020B0609020204030204" pitchFamily="49" charset="0"/>
              </a:rPr>
              <a:t>dbo</a:t>
            </a:r>
            <a:r>
              <a:rPr lang="en-IN" dirty="0">
                <a:latin typeface="Consolas" panose="020B0609020204030204" pitchFamily="49" charset="0"/>
              </a:rPr>
              <a:t>].[Orders]</a:t>
            </a:r>
          </a:p>
          <a:p>
            <a:r>
              <a:rPr lang="en-US" dirty="0">
                <a:latin typeface="Consolas" panose="020B0609020204030204" pitchFamily="49" charset="0"/>
              </a:rPr>
              <a:t>where </a:t>
            </a:r>
            <a:r>
              <a:rPr lang="en-US" dirty="0" err="1">
                <a:latin typeface="Consolas" panose="020B0609020204030204" pitchFamily="49" charset="0"/>
              </a:rPr>
              <a:t>ShipCountry</a:t>
            </a:r>
            <a:r>
              <a:rPr lang="en-US" dirty="0">
                <a:latin typeface="Consolas" panose="020B0609020204030204" pitchFamily="49" charset="0"/>
              </a:rPr>
              <a:t> in ('</a:t>
            </a:r>
            <a:r>
              <a:rPr lang="en-US" dirty="0" err="1">
                <a:latin typeface="Consolas" panose="020B0609020204030204" pitchFamily="49" charset="0"/>
              </a:rPr>
              <a:t>France','Belgium</a:t>
            </a:r>
            <a:r>
              <a:rPr lang="en-US" dirty="0">
                <a:latin typeface="Consolas" panose="020B0609020204030204" pitchFamily="49" charset="0"/>
              </a:rPr>
              <a:t>’)       ---</a:t>
            </a:r>
            <a:r>
              <a:rPr lang="en-IN" dirty="0"/>
              <a:t> (96 rows affected)</a:t>
            </a:r>
          </a:p>
        </p:txBody>
      </p:sp>
      <p:sp>
        <p:nvSpPr>
          <p:cNvPr id="9" name="Rectangle 8">
            <a:extLst>
              <a:ext uri="{FF2B5EF4-FFF2-40B4-BE49-F238E27FC236}">
                <a16:creationId xmlns:a16="http://schemas.microsoft.com/office/drawing/2014/main" id="{468B1E63-291B-465E-943D-715FE6CFE01C}"/>
              </a:ext>
            </a:extLst>
          </p:cNvPr>
          <p:cNvSpPr/>
          <p:nvPr/>
        </p:nvSpPr>
        <p:spPr>
          <a:xfrm>
            <a:off x="1141413" y="3586483"/>
            <a:ext cx="6346341" cy="3139321"/>
          </a:xfrm>
          <a:prstGeom prst="rect">
            <a:avLst/>
          </a:prstGeom>
        </p:spPr>
        <p:txBody>
          <a:bodyPr wrap="square">
            <a:spAutoFit/>
          </a:bodyPr>
          <a:lstStyle/>
          <a:p>
            <a:r>
              <a:rPr lang="en-US" dirty="0">
                <a:solidFill>
                  <a:schemeClr val="bg1"/>
                </a:solidFill>
              </a:rPr>
              <a:t>Order ID     Customer ID     Ship Country</a:t>
            </a:r>
            <a:endParaRPr lang="en-IN" dirty="0">
              <a:solidFill>
                <a:schemeClr val="bg1"/>
              </a:solidFill>
            </a:endParaRPr>
          </a:p>
          <a:p>
            <a:r>
              <a:rPr lang="en-IN" dirty="0"/>
              <a:t>10248		VINET		France</a:t>
            </a:r>
          </a:p>
          <a:p>
            <a:r>
              <a:rPr lang="en-IN" dirty="0"/>
              <a:t>10251		VICTE		France</a:t>
            </a:r>
          </a:p>
          <a:p>
            <a:r>
              <a:rPr lang="en-IN" dirty="0"/>
              <a:t>10252		SUPRD		Belgium</a:t>
            </a:r>
          </a:p>
          <a:p>
            <a:r>
              <a:rPr lang="en-IN" dirty="0"/>
              <a:t>10265		BLONP		France</a:t>
            </a:r>
          </a:p>
          <a:p>
            <a:r>
              <a:rPr lang="en-IN" dirty="0"/>
              <a:t>10274		VINET		France</a:t>
            </a:r>
          </a:p>
          <a:p>
            <a:r>
              <a:rPr lang="en-IN" dirty="0"/>
              <a:t>10295		VINET		France</a:t>
            </a:r>
          </a:p>
          <a:p>
            <a:r>
              <a:rPr lang="en-IN" dirty="0"/>
              <a:t>10297		BLONP		France</a:t>
            </a:r>
          </a:p>
          <a:p>
            <a:r>
              <a:rPr lang="en-IN" dirty="0"/>
              <a:t>10302		SUPRD		Belgium</a:t>
            </a:r>
          </a:p>
          <a:p>
            <a:r>
              <a:rPr lang="en-IN" dirty="0"/>
              <a:t>10311		DUMON		France</a:t>
            </a:r>
          </a:p>
          <a:p>
            <a:r>
              <a:rPr lang="en-IN" dirty="0"/>
              <a:t>10331		BONAP		France</a:t>
            </a:r>
          </a:p>
        </p:txBody>
      </p:sp>
    </p:spTree>
    <p:extLst>
      <p:ext uri="{BB962C8B-B14F-4D97-AF65-F5344CB8AC3E}">
        <p14:creationId xmlns:p14="http://schemas.microsoft.com/office/powerpoint/2010/main" val="923567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5BAD18-0B4E-42E6-BC2B-AD21AB4E0A39}"/>
              </a:ext>
            </a:extLst>
          </p:cNvPr>
          <p:cNvSpPr>
            <a:spLocks noGrp="1"/>
          </p:cNvSpPr>
          <p:nvPr>
            <p:ph idx="1"/>
          </p:nvPr>
        </p:nvSpPr>
        <p:spPr>
          <a:xfrm>
            <a:off x="1141413" y="2026640"/>
            <a:ext cx="9018587" cy="1596799"/>
          </a:xfrm>
        </p:spPr>
        <p:txBody>
          <a:bodyPr>
            <a:normAutofit/>
          </a:bodyPr>
          <a:lstStyle/>
          <a:p>
            <a:pPr marL="0" indent="0">
              <a:buNone/>
            </a:pPr>
            <a:r>
              <a:rPr lang="en-US" sz="1800" dirty="0"/>
              <a:t> Select </a:t>
            </a:r>
            <a:r>
              <a:rPr lang="en-US" sz="1800" dirty="0" err="1"/>
              <a:t>FirstName,LastName,Title</a:t>
            </a:r>
            <a:r>
              <a:rPr lang="en-US" sz="1800" dirty="0"/>
              <a:t>, CONVERT(VARCHAR(10), </a:t>
            </a:r>
            <a:r>
              <a:rPr lang="en-US" sz="1800" dirty="0" err="1"/>
              <a:t>BirthDate</a:t>
            </a:r>
            <a:r>
              <a:rPr lang="en-US" sz="1800" dirty="0"/>
              <a:t>, 120) as </a:t>
            </a:r>
            <a:r>
              <a:rPr lang="en-US" sz="1800" dirty="0" err="1"/>
              <a:t>DataonlyBirthdata</a:t>
            </a:r>
            <a:r>
              <a:rPr lang="en-US" sz="1800" dirty="0"/>
              <a:t>     </a:t>
            </a:r>
          </a:p>
          <a:p>
            <a:pPr marL="0" indent="0">
              <a:buNone/>
            </a:pPr>
            <a:r>
              <a:rPr lang="en-US" sz="1800" dirty="0"/>
              <a:t> </a:t>
            </a:r>
            <a:r>
              <a:rPr lang="en-IN" sz="1800" dirty="0"/>
              <a:t>from [</a:t>
            </a:r>
            <a:r>
              <a:rPr lang="en-IN" sz="1800" dirty="0" err="1"/>
              <a:t>dbo</a:t>
            </a:r>
            <a:r>
              <a:rPr lang="en-IN" sz="1800" dirty="0"/>
              <a:t>].[Employees] order By </a:t>
            </a:r>
            <a:r>
              <a:rPr lang="en-IN" sz="1800" dirty="0" err="1"/>
              <a:t>BirthDate</a:t>
            </a:r>
            <a:endParaRPr lang="en-IN" sz="1800" dirty="0"/>
          </a:p>
          <a:p>
            <a:pPr lvl="2"/>
            <a:endParaRPr lang="en-IN" sz="1200" dirty="0"/>
          </a:p>
        </p:txBody>
      </p:sp>
      <p:sp>
        <p:nvSpPr>
          <p:cNvPr id="4" name="Rectangle 1">
            <a:extLst>
              <a:ext uri="{FF2B5EF4-FFF2-40B4-BE49-F238E27FC236}">
                <a16:creationId xmlns:a16="http://schemas.microsoft.com/office/drawing/2014/main" id="{610C5CAE-4168-4597-8F71-DB45F81C870C}"/>
              </a:ext>
            </a:extLst>
          </p:cNvPr>
          <p:cNvSpPr>
            <a:spLocks noGrp="1" noChangeArrowheads="1"/>
          </p:cNvSpPr>
          <p:nvPr>
            <p:ph type="title"/>
          </p:nvPr>
        </p:nvSpPr>
        <p:spPr bwMode="auto">
          <a:xfrm>
            <a:off x="1141413" y="942304"/>
            <a:ext cx="96808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latin typeface="Arial" panose="020B0604020202020204" pitchFamily="34" charset="0"/>
              </a:rPr>
              <a:t>5.Show only the FirstName, Last Name, and Birth Date of employees, </a:t>
            </a:r>
            <a:br>
              <a:rPr kumimoji="0" lang="en-US" altLang="en-US" sz="2400" b="0" i="0" u="none" strike="noStrike" cap="none" normalizeH="0" baseline="0" dirty="0">
                <a:ln>
                  <a:noFill/>
                </a:ln>
                <a:solidFill>
                  <a:schemeClr val="bg1"/>
                </a:solidFill>
                <a:effectLst/>
                <a:latin typeface="Arial" panose="020B0604020202020204" pitchFamily="34" charset="0"/>
              </a:rPr>
            </a:br>
            <a:r>
              <a:rPr kumimoji="0" lang="en-US" altLang="en-US" sz="2400" b="0" i="0" u="none" strike="noStrike" cap="none" normalizeH="0" baseline="0" dirty="0">
                <a:ln>
                  <a:noFill/>
                </a:ln>
                <a:solidFill>
                  <a:schemeClr val="bg1"/>
                </a:solidFill>
                <a:effectLst/>
                <a:latin typeface="Arial" panose="020B0604020202020204" pitchFamily="34" charset="0"/>
              </a:rPr>
              <a:t>but display only the date portion.</a:t>
            </a:r>
          </a:p>
        </p:txBody>
      </p:sp>
      <p:sp>
        <p:nvSpPr>
          <p:cNvPr id="5" name="Rectangle 4">
            <a:extLst>
              <a:ext uri="{FF2B5EF4-FFF2-40B4-BE49-F238E27FC236}">
                <a16:creationId xmlns:a16="http://schemas.microsoft.com/office/drawing/2014/main" id="{7E3D33B3-254F-4E41-929B-175440C5764E}"/>
              </a:ext>
            </a:extLst>
          </p:cNvPr>
          <p:cNvSpPr/>
          <p:nvPr/>
        </p:nvSpPr>
        <p:spPr>
          <a:xfrm>
            <a:off x="1245620" y="3618307"/>
            <a:ext cx="9302522" cy="2862322"/>
          </a:xfrm>
          <a:prstGeom prst="rect">
            <a:avLst/>
          </a:prstGeom>
        </p:spPr>
        <p:txBody>
          <a:bodyPr wrap="square">
            <a:spAutoFit/>
          </a:bodyPr>
          <a:lstStyle/>
          <a:p>
            <a:r>
              <a:rPr lang="en-IN" dirty="0"/>
              <a:t>	</a:t>
            </a:r>
            <a:r>
              <a:rPr lang="en-IN" b="1" dirty="0">
                <a:solidFill>
                  <a:schemeClr val="bg1"/>
                </a:solidFill>
              </a:rPr>
              <a:t>FirstName 			Last Name			Title	 		    		  Birth data</a:t>
            </a:r>
          </a:p>
          <a:p>
            <a:r>
              <a:rPr lang="en-IN" dirty="0"/>
              <a:t>	Margaret				Peacock			Sales Representative		1955-09-19</a:t>
            </a:r>
          </a:p>
          <a:p>
            <a:r>
              <a:rPr lang="en-IN" dirty="0"/>
              <a:t>	Nancy				</a:t>
            </a:r>
            <a:r>
              <a:rPr lang="en-IN" dirty="0" err="1"/>
              <a:t>Davolio</a:t>
            </a:r>
            <a:r>
              <a:rPr lang="en-IN" dirty="0"/>
              <a:t>			Sales Representative		1966-12-08</a:t>
            </a:r>
          </a:p>
          <a:p>
            <a:r>
              <a:rPr lang="en-IN" dirty="0"/>
              <a:t>	Andrew				Fuller			Vice President, Sales		1970-02-19</a:t>
            </a:r>
          </a:p>
          <a:p>
            <a:r>
              <a:rPr lang="en-IN" dirty="0"/>
              <a:t>	Steven				Buchanan			Sales Manager			1973-03-04</a:t>
            </a:r>
          </a:p>
          <a:p>
            <a:r>
              <a:rPr lang="en-IN" dirty="0"/>
              <a:t>	Laura				Callahan			Inside Sales Coordinator		1976-01-09</a:t>
            </a:r>
          </a:p>
          <a:p>
            <a:r>
              <a:rPr lang="en-IN" dirty="0"/>
              <a:t>	Robert				King	Sales		 Representative			1978-05-29</a:t>
            </a:r>
          </a:p>
          <a:p>
            <a:r>
              <a:rPr lang="en-IN" dirty="0"/>
              <a:t>	Michael				</a:t>
            </a:r>
            <a:r>
              <a:rPr lang="en-IN" dirty="0" err="1"/>
              <a:t>Suyama</a:t>
            </a:r>
            <a:r>
              <a:rPr lang="en-IN" dirty="0"/>
              <a:t>			Sales Representative		1981-07-02</a:t>
            </a:r>
          </a:p>
          <a:p>
            <a:r>
              <a:rPr lang="en-IN" dirty="0"/>
              <a:t>	Janet				</a:t>
            </a:r>
            <a:r>
              <a:rPr lang="en-IN" dirty="0" err="1"/>
              <a:t>Leverling</a:t>
            </a:r>
            <a:r>
              <a:rPr lang="en-IN" dirty="0"/>
              <a:t>			Sales Representative		1981-08-30</a:t>
            </a:r>
          </a:p>
          <a:p>
            <a:r>
              <a:rPr lang="en-IN" dirty="0"/>
              <a:t>	Anne	</a:t>
            </a:r>
            <a:r>
              <a:rPr lang="en-IN" dirty="0" err="1"/>
              <a:t>Dodsworth</a:t>
            </a:r>
            <a:r>
              <a:rPr lang="en-IN" dirty="0"/>
              <a:t>		Sales 			Representative				1984-01-27</a:t>
            </a:r>
          </a:p>
        </p:txBody>
      </p:sp>
    </p:spTree>
    <p:extLst>
      <p:ext uri="{BB962C8B-B14F-4D97-AF65-F5344CB8AC3E}">
        <p14:creationId xmlns:p14="http://schemas.microsoft.com/office/powerpoint/2010/main" val="1719465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E3318-8A97-4608-A13B-07CA9A5A708A}"/>
              </a:ext>
            </a:extLst>
          </p:cNvPr>
          <p:cNvSpPr>
            <a:spLocks noGrp="1"/>
          </p:cNvSpPr>
          <p:nvPr>
            <p:ph type="title"/>
          </p:nvPr>
        </p:nvSpPr>
        <p:spPr/>
        <p:txBody>
          <a:bodyPr>
            <a:normAutofit/>
          </a:bodyPr>
          <a:lstStyle/>
          <a:p>
            <a:r>
              <a:rPr lang="en-US" sz="2400" dirty="0">
                <a:solidFill>
                  <a:schemeClr val="bg1"/>
                </a:solidFill>
              </a:rPr>
              <a:t>6.How many customers do we have in the Customers table? Show one value only, and don’t rely on getting the record count at the end of a result set. Give the result in power bi </a:t>
            </a:r>
            <a:r>
              <a:rPr lang="en-US" sz="2400" dirty="0" err="1">
                <a:solidFill>
                  <a:schemeClr val="bg1"/>
                </a:solidFill>
              </a:rPr>
              <a:t>dax</a:t>
            </a:r>
            <a:r>
              <a:rPr lang="en-US" sz="2400" dirty="0">
                <a:solidFill>
                  <a:schemeClr val="bg1"/>
                </a:solidFill>
              </a:rPr>
              <a:t> query and </a:t>
            </a:r>
            <a:r>
              <a:rPr lang="en-US" sz="2400" dirty="0" err="1">
                <a:solidFill>
                  <a:schemeClr val="bg1"/>
                </a:solidFill>
              </a:rPr>
              <a:t>sql</a:t>
            </a:r>
            <a:r>
              <a:rPr lang="en-US" sz="2400" dirty="0">
                <a:solidFill>
                  <a:schemeClr val="bg1"/>
                </a:solidFill>
              </a:rPr>
              <a:t> syntax</a:t>
            </a:r>
            <a:endParaRPr lang="en-IN" sz="2400" dirty="0">
              <a:solidFill>
                <a:schemeClr val="bg1"/>
              </a:solidFill>
            </a:endParaRPr>
          </a:p>
        </p:txBody>
      </p:sp>
      <p:sp>
        <p:nvSpPr>
          <p:cNvPr id="3" name="Content Placeholder 2">
            <a:extLst>
              <a:ext uri="{FF2B5EF4-FFF2-40B4-BE49-F238E27FC236}">
                <a16:creationId xmlns:a16="http://schemas.microsoft.com/office/drawing/2014/main" id="{8BB0E10E-F0C9-441D-8B3C-EB6D852AE8F2}"/>
              </a:ext>
            </a:extLst>
          </p:cNvPr>
          <p:cNvSpPr>
            <a:spLocks noGrp="1"/>
          </p:cNvSpPr>
          <p:nvPr>
            <p:ph idx="1"/>
          </p:nvPr>
        </p:nvSpPr>
        <p:spPr>
          <a:xfrm>
            <a:off x="1141413" y="2249487"/>
            <a:ext cx="8626702" cy="2426517"/>
          </a:xfrm>
        </p:spPr>
        <p:txBody>
          <a:bodyPr>
            <a:noAutofit/>
          </a:bodyPr>
          <a:lstStyle/>
          <a:p>
            <a:pPr marL="0" indent="0" algn="ctr">
              <a:buNone/>
            </a:pPr>
            <a:r>
              <a:rPr lang="en-US" sz="1800" b="1" dirty="0">
                <a:solidFill>
                  <a:schemeClr val="bg1"/>
                </a:solidFill>
              </a:rPr>
              <a:t>SQL Query </a:t>
            </a:r>
            <a:endParaRPr lang="en-IN" sz="1800" b="1" dirty="0">
              <a:solidFill>
                <a:schemeClr val="bg1"/>
              </a:solidFill>
            </a:endParaRPr>
          </a:p>
          <a:p>
            <a:pPr marL="0" indent="0">
              <a:buNone/>
            </a:pPr>
            <a:r>
              <a:rPr lang="en-US" sz="1800" dirty="0"/>
              <a:t>Select count (</a:t>
            </a:r>
            <a:r>
              <a:rPr lang="en-US" sz="1800" dirty="0" err="1"/>
              <a:t>ContactName</a:t>
            </a:r>
            <a:r>
              <a:rPr lang="en-US" sz="1800" dirty="0"/>
              <a:t>) as </a:t>
            </a:r>
            <a:r>
              <a:rPr lang="en-US" sz="1800" dirty="0" err="1"/>
              <a:t>Totalcustomers</a:t>
            </a:r>
            <a:endParaRPr lang="en-IN" sz="1800" dirty="0"/>
          </a:p>
          <a:p>
            <a:pPr marL="0" indent="0">
              <a:buNone/>
            </a:pPr>
            <a:r>
              <a:rPr lang="en-IN" sz="1800" dirty="0"/>
              <a:t>from [</a:t>
            </a:r>
            <a:r>
              <a:rPr lang="en-IN" sz="1800" dirty="0" err="1"/>
              <a:t>dbo</a:t>
            </a:r>
            <a:r>
              <a:rPr lang="en-IN" sz="1800" dirty="0"/>
              <a:t>].[Customers]</a:t>
            </a:r>
          </a:p>
          <a:p>
            <a:pPr marL="0" indent="0">
              <a:buNone/>
            </a:pPr>
            <a:r>
              <a:rPr lang="en-IN" sz="1800" b="1" dirty="0">
                <a:solidFill>
                  <a:schemeClr val="bg1"/>
                </a:solidFill>
              </a:rPr>
              <a:t>Total customers</a:t>
            </a:r>
          </a:p>
          <a:p>
            <a:pPr marL="0" indent="0">
              <a:buNone/>
            </a:pPr>
            <a:r>
              <a:rPr lang="en-IN" sz="1800" b="1" dirty="0">
                <a:solidFill>
                  <a:schemeClr val="bg1"/>
                </a:solidFill>
              </a:rPr>
              <a:t>        91</a:t>
            </a:r>
          </a:p>
        </p:txBody>
      </p:sp>
      <p:sp>
        <p:nvSpPr>
          <p:cNvPr id="5" name="Rectangle 4">
            <a:extLst>
              <a:ext uri="{FF2B5EF4-FFF2-40B4-BE49-F238E27FC236}">
                <a16:creationId xmlns:a16="http://schemas.microsoft.com/office/drawing/2014/main" id="{F88D14E2-540E-4157-B129-5724EFB4233A}"/>
              </a:ext>
            </a:extLst>
          </p:cNvPr>
          <p:cNvSpPr/>
          <p:nvPr/>
        </p:nvSpPr>
        <p:spPr>
          <a:xfrm>
            <a:off x="1030514" y="4913085"/>
            <a:ext cx="7045855" cy="769441"/>
          </a:xfrm>
          <a:prstGeom prst="rect">
            <a:avLst/>
          </a:prstGeom>
        </p:spPr>
        <p:txBody>
          <a:bodyPr wrap="square">
            <a:spAutoFit/>
          </a:bodyPr>
          <a:lstStyle/>
          <a:p>
            <a:pPr algn="ctr"/>
            <a:r>
              <a:rPr lang="en-US" sz="2400" dirty="0">
                <a:solidFill>
                  <a:srgbClr val="000000"/>
                </a:solidFill>
                <a:latin typeface="Consolas" panose="020B0609020204030204" pitchFamily="49" charset="0"/>
              </a:rPr>
              <a:t>DAX Query </a:t>
            </a:r>
          </a:p>
          <a:p>
            <a:r>
              <a:rPr lang="en-US" sz="2000" dirty="0">
                <a:solidFill>
                  <a:srgbClr val="000000"/>
                </a:solidFill>
                <a:latin typeface="Consolas" panose="020B0609020204030204" pitchFamily="49" charset="0"/>
              </a:rPr>
              <a:t>1 Customer Count </a:t>
            </a:r>
            <a:r>
              <a:rPr lang="en-US" sz="2000" dirty="0">
                <a:latin typeface="Consolas" panose="020B0609020204030204" pitchFamily="49" charset="0"/>
              </a:rPr>
              <a:t>COUNT</a:t>
            </a:r>
            <a:r>
              <a:rPr lang="en-US" sz="2000" dirty="0">
                <a:solidFill>
                  <a:srgbClr val="000000"/>
                </a:solidFill>
                <a:latin typeface="Consolas" panose="020B0609020204030204" pitchFamily="49" charset="0"/>
              </a:rPr>
              <a:t>(</a:t>
            </a:r>
            <a:r>
              <a:rPr lang="en-US" sz="2000" dirty="0">
                <a:solidFill>
                  <a:srgbClr val="001080"/>
                </a:solidFill>
                <a:latin typeface="Consolas" panose="020B0609020204030204" pitchFamily="49" charset="0"/>
              </a:rPr>
              <a:t>Customers[CompanyName]</a:t>
            </a:r>
            <a:r>
              <a:rPr lang="en-US" sz="2000" dirty="0">
                <a:solidFill>
                  <a:srgbClr val="000000"/>
                </a:solidFill>
                <a:latin typeface="Consolas" panose="020B0609020204030204" pitchFamily="49" charset="0"/>
              </a:rPr>
              <a:t>)</a:t>
            </a:r>
            <a:endParaRPr lang="en-US" sz="2000" b="0" dirty="0">
              <a:solidFill>
                <a:srgbClr val="000000"/>
              </a:solidFill>
              <a:effectLst/>
              <a:latin typeface="Consolas" panose="020B0609020204030204" pitchFamily="49" charset="0"/>
            </a:endParaRPr>
          </a:p>
        </p:txBody>
      </p:sp>
      <p:pic>
        <p:nvPicPr>
          <p:cNvPr id="6" name="Picture 5">
            <a:extLst>
              <a:ext uri="{FF2B5EF4-FFF2-40B4-BE49-F238E27FC236}">
                <a16:creationId xmlns:a16="http://schemas.microsoft.com/office/drawing/2014/main" id="{8E4AD6D6-6066-4C76-BA25-7FD1C7C80FC4}"/>
              </a:ext>
            </a:extLst>
          </p:cNvPr>
          <p:cNvPicPr>
            <a:picLocks noChangeAspect="1"/>
          </p:cNvPicPr>
          <p:nvPr/>
        </p:nvPicPr>
        <p:blipFill>
          <a:blip r:embed="rId2"/>
          <a:stretch>
            <a:fillRect/>
          </a:stretch>
        </p:blipFill>
        <p:spPr>
          <a:xfrm>
            <a:off x="8230727" y="4760913"/>
            <a:ext cx="2930759" cy="1345569"/>
          </a:xfrm>
          <a:prstGeom prst="rect">
            <a:avLst/>
          </a:prstGeom>
        </p:spPr>
      </p:pic>
      <p:sp>
        <p:nvSpPr>
          <p:cNvPr id="7" name="Arrow: Right 6">
            <a:extLst>
              <a:ext uri="{FF2B5EF4-FFF2-40B4-BE49-F238E27FC236}">
                <a16:creationId xmlns:a16="http://schemas.microsoft.com/office/drawing/2014/main" id="{C160A83B-1967-479C-BDE6-27042FB33B1A}"/>
              </a:ext>
            </a:extLst>
          </p:cNvPr>
          <p:cNvSpPr/>
          <p:nvPr/>
        </p:nvSpPr>
        <p:spPr>
          <a:xfrm>
            <a:off x="7698434" y="5373870"/>
            <a:ext cx="377935" cy="2357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0750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C006B-D0EA-4E30-816D-9A9C3432D7C9}"/>
              </a:ext>
            </a:extLst>
          </p:cNvPr>
          <p:cNvSpPr>
            <a:spLocks noGrp="1"/>
          </p:cNvSpPr>
          <p:nvPr>
            <p:ph type="title"/>
          </p:nvPr>
        </p:nvSpPr>
        <p:spPr>
          <a:xfrm>
            <a:off x="1141413" y="618518"/>
            <a:ext cx="9671730" cy="1195768"/>
          </a:xfrm>
        </p:spPr>
        <p:txBody>
          <a:bodyPr>
            <a:normAutofit/>
          </a:bodyPr>
          <a:lstStyle/>
          <a:p>
            <a:r>
              <a:rPr lang="en-US" sz="2400" dirty="0">
                <a:solidFill>
                  <a:schemeClr val="bg1"/>
                </a:solidFill>
              </a:rPr>
              <a:t>7.Display a list of all unique Contact Title values from the Customers table along with the count of customers for each Contact Title. </a:t>
            </a:r>
            <a:endParaRPr lang="en-IN" sz="2400" dirty="0">
              <a:solidFill>
                <a:schemeClr val="bg1"/>
              </a:solidFill>
            </a:endParaRPr>
          </a:p>
        </p:txBody>
      </p:sp>
      <p:sp>
        <p:nvSpPr>
          <p:cNvPr id="3" name="Content Placeholder 2">
            <a:extLst>
              <a:ext uri="{FF2B5EF4-FFF2-40B4-BE49-F238E27FC236}">
                <a16:creationId xmlns:a16="http://schemas.microsoft.com/office/drawing/2014/main" id="{52D0547D-AB8C-4998-9B6A-A12E971ADA21}"/>
              </a:ext>
            </a:extLst>
          </p:cNvPr>
          <p:cNvSpPr>
            <a:spLocks noGrp="1"/>
          </p:cNvSpPr>
          <p:nvPr>
            <p:ph idx="1"/>
          </p:nvPr>
        </p:nvSpPr>
        <p:spPr>
          <a:xfrm>
            <a:off x="1141413" y="1609236"/>
            <a:ext cx="7572281" cy="1600200"/>
          </a:xfrm>
        </p:spPr>
        <p:txBody>
          <a:bodyPr>
            <a:normAutofit fontScale="25000" lnSpcReduction="20000"/>
          </a:bodyPr>
          <a:lstStyle/>
          <a:p>
            <a:endParaRPr lang="en-IN" dirty="0"/>
          </a:p>
          <a:p>
            <a:pPr marL="0" indent="0">
              <a:buNone/>
            </a:pPr>
            <a:r>
              <a:rPr lang="en-US" sz="6400" dirty="0"/>
              <a:t>    Select </a:t>
            </a:r>
            <a:r>
              <a:rPr lang="en-US" sz="6400" dirty="0" err="1"/>
              <a:t>ContactTitle</a:t>
            </a:r>
            <a:r>
              <a:rPr lang="en-US" sz="6400" dirty="0"/>
              <a:t>, count (</a:t>
            </a:r>
            <a:r>
              <a:rPr lang="en-US" sz="6400" dirty="0" err="1"/>
              <a:t>ContactTitle</a:t>
            </a:r>
            <a:r>
              <a:rPr lang="en-US" sz="6400" dirty="0"/>
              <a:t>) as </a:t>
            </a:r>
            <a:r>
              <a:rPr lang="en-US" sz="6400" dirty="0" err="1"/>
              <a:t>TotalContactTitle</a:t>
            </a:r>
            <a:endParaRPr lang="en-US" sz="6400" dirty="0"/>
          </a:p>
          <a:p>
            <a:pPr marL="0" indent="0">
              <a:buNone/>
            </a:pPr>
            <a:r>
              <a:rPr lang="en-IN" sz="6400" dirty="0"/>
              <a:t>    from [</a:t>
            </a:r>
            <a:r>
              <a:rPr lang="en-IN" sz="6400" dirty="0" err="1"/>
              <a:t>dbo</a:t>
            </a:r>
            <a:r>
              <a:rPr lang="en-IN" sz="6400" dirty="0"/>
              <a:t>].[Customers]</a:t>
            </a:r>
          </a:p>
          <a:p>
            <a:pPr marL="0" indent="0">
              <a:buNone/>
            </a:pPr>
            <a:r>
              <a:rPr lang="en-IN" sz="6400" dirty="0"/>
              <a:t>   Group By </a:t>
            </a:r>
            <a:r>
              <a:rPr lang="en-IN" sz="6400" dirty="0" err="1"/>
              <a:t>contactTitle</a:t>
            </a:r>
            <a:r>
              <a:rPr lang="en-IN" sz="6400" dirty="0"/>
              <a:t>   </a:t>
            </a:r>
          </a:p>
          <a:p>
            <a:pPr marL="0" indent="0">
              <a:buNone/>
            </a:pPr>
            <a:r>
              <a:rPr lang="en-IN" sz="6400" dirty="0"/>
              <a:t>   Order By </a:t>
            </a:r>
            <a:r>
              <a:rPr lang="en-IN" sz="6400" dirty="0" err="1"/>
              <a:t>TotalContactTitle</a:t>
            </a:r>
            <a:r>
              <a:rPr lang="en-IN" sz="6400" dirty="0"/>
              <a:t> </a:t>
            </a:r>
            <a:r>
              <a:rPr lang="en-IN" sz="6400" dirty="0" err="1"/>
              <a:t>Desc</a:t>
            </a:r>
            <a:endParaRPr lang="en-IN" sz="6400" dirty="0"/>
          </a:p>
        </p:txBody>
      </p:sp>
      <p:sp>
        <p:nvSpPr>
          <p:cNvPr id="6" name="Rectangle 5">
            <a:extLst>
              <a:ext uri="{FF2B5EF4-FFF2-40B4-BE49-F238E27FC236}">
                <a16:creationId xmlns:a16="http://schemas.microsoft.com/office/drawing/2014/main" id="{0B80F789-ACC6-46CC-9155-93C689DAA24C}"/>
              </a:ext>
            </a:extLst>
          </p:cNvPr>
          <p:cNvSpPr/>
          <p:nvPr/>
        </p:nvSpPr>
        <p:spPr>
          <a:xfrm>
            <a:off x="1141414" y="3222883"/>
            <a:ext cx="4640822" cy="3293209"/>
          </a:xfrm>
          <a:prstGeom prst="rect">
            <a:avLst/>
          </a:prstGeom>
        </p:spPr>
        <p:txBody>
          <a:bodyPr wrap="square">
            <a:spAutoFit/>
          </a:bodyPr>
          <a:lstStyle/>
          <a:p>
            <a:r>
              <a:rPr lang="en-IN" sz="1600" dirty="0" err="1">
                <a:solidFill>
                  <a:schemeClr val="bg1"/>
                </a:solidFill>
              </a:rPr>
              <a:t>ContactTitle</a:t>
            </a:r>
            <a:r>
              <a:rPr lang="en-IN" sz="1600" dirty="0">
                <a:solidFill>
                  <a:schemeClr val="bg1"/>
                </a:solidFill>
              </a:rPr>
              <a:t>	                  </a:t>
            </a:r>
            <a:r>
              <a:rPr lang="en-IN" sz="1600" dirty="0" err="1">
                <a:solidFill>
                  <a:schemeClr val="bg1"/>
                </a:solidFill>
              </a:rPr>
              <a:t>TotalContactTitle</a:t>
            </a:r>
            <a:endParaRPr lang="en-IN" sz="1600" dirty="0">
              <a:solidFill>
                <a:schemeClr val="bg1"/>
              </a:solidFill>
            </a:endParaRPr>
          </a:p>
          <a:p>
            <a:r>
              <a:rPr lang="en-IN" sz="1600" dirty="0"/>
              <a:t>Owner					17</a:t>
            </a:r>
          </a:p>
          <a:p>
            <a:r>
              <a:rPr lang="en-IN" sz="1600" dirty="0"/>
              <a:t>Sales Representative		 	17</a:t>
            </a:r>
          </a:p>
          <a:p>
            <a:r>
              <a:rPr lang="en-IN" sz="1600" dirty="0"/>
              <a:t>Marketing Manager			12</a:t>
            </a:r>
          </a:p>
          <a:p>
            <a:r>
              <a:rPr lang="en-IN" sz="1600" dirty="0"/>
              <a:t>Sales Manager				11</a:t>
            </a:r>
          </a:p>
          <a:p>
            <a:r>
              <a:rPr lang="en-IN" sz="1600" dirty="0"/>
              <a:t>Accounting Manager			10</a:t>
            </a:r>
          </a:p>
          <a:p>
            <a:r>
              <a:rPr lang="en-IN" sz="1600" dirty="0"/>
              <a:t>Sales Associate			 	  7</a:t>
            </a:r>
          </a:p>
          <a:p>
            <a:r>
              <a:rPr lang="en-IN" sz="1600" dirty="0"/>
              <a:t>Marketing Assistant			  6</a:t>
            </a:r>
          </a:p>
          <a:p>
            <a:r>
              <a:rPr lang="en-IN" sz="1600" dirty="0"/>
              <a:t>Sales Agent				  5</a:t>
            </a:r>
          </a:p>
          <a:p>
            <a:r>
              <a:rPr lang="en-IN" sz="1600" dirty="0"/>
              <a:t>Assistant Sales Agent		 	  2</a:t>
            </a:r>
          </a:p>
          <a:p>
            <a:r>
              <a:rPr lang="en-IN" sz="1600" dirty="0"/>
              <a:t>Order Administrator		 	  2</a:t>
            </a:r>
          </a:p>
          <a:p>
            <a:r>
              <a:rPr lang="en-IN" sz="1600" dirty="0"/>
              <a:t>Assistant Sales Representative	  1</a:t>
            </a:r>
          </a:p>
          <a:p>
            <a:r>
              <a:rPr lang="en-IN" sz="1600" dirty="0"/>
              <a:t>Owner/Marketing Assistant	  	  1</a:t>
            </a:r>
          </a:p>
        </p:txBody>
      </p:sp>
      <p:pic>
        <p:nvPicPr>
          <p:cNvPr id="7" name="Picture 6">
            <a:extLst>
              <a:ext uri="{FF2B5EF4-FFF2-40B4-BE49-F238E27FC236}">
                <a16:creationId xmlns:a16="http://schemas.microsoft.com/office/drawing/2014/main" id="{BBC224C8-0D20-4FE4-8DE6-CA1CBBD2AB42}"/>
              </a:ext>
            </a:extLst>
          </p:cNvPr>
          <p:cNvPicPr>
            <a:picLocks noChangeAspect="1"/>
          </p:cNvPicPr>
          <p:nvPr/>
        </p:nvPicPr>
        <p:blipFill>
          <a:blip r:embed="rId2"/>
          <a:stretch>
            <a:fillRect/>
          </a:stretch>
        </p:blipFill>
        <p:spPr>
          <a:xfrm>
            <a:off x="5204013" y="3343859"/>
            <a:ext cx="5957046" cy="3306518"/>
          </a:xfrm>
          <a:prstGeom prst="rect">
            <a:avLst/>
          </a:prstGeom>
        </p:spPr>
      </p:pic>
    </p:spTree>
    <p:extLst>
      <p:ext uri="{BB962C8B-B14F-4D97-AF65-F5344CB8AC3E}">
        <p14:creationId xmlns:p14="http://schemas.microsoft.com/office/powerpoint/2010/main" val="1242723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C8C0-116B-47CC-8F1C-895C7471BFA6}"/>
              </a:ext>
            </a:extLst>
          </p:cNvPr>
          <p:cNvSpPr>
            <a:spLocks noGrp="1"/>
          </p:cNvSpPr>
          <p:nvPr>
            <p:ph type="title"/>
          </p:nvPr>
        </p:nvSpPr>
        <p:spPr>
          <a:xfrm>
            <a:off x="1143001" y="793330"/>
            <a:ext cx="9905998" cy="1264070"/>
          </a:xfrm>
        </p:spPr>
        <p:txBody>
          <a:bodyPr>
            <a:normAutofit fontScale="90000"/>
          </a:bodyPr>
          <a:lstStyle/>
          <a:p>
            <a:r>
              <a:rPr lang="en-US" sz="2700" dirty="0">
                <a:solidFill>
                  <a:schemeClr val="bg1"/>
                </a:solidFill>
              </a:rPr>
              <a:t>8.Retrieve the </a:t>
            </a:r>
            <a:r>
              <a:rPr lang="en-US" sz="2700" dirty="0" err="1">
                <a:solidFill>
                  <a:schemeClr val="bg1"/>
                </a:solidFill>
              </a:rPr>
              <a:t>OrderID</a:t>
            </a:r>
            <a:r>
              <a:rPr lang="en-US" sz="2700" dirty="0">
                <a:solidFill>
                  <a:schemeClr val="bg1"/>
                </a:solidFill>
              </a:rPr>
              <a:t>, </a:t>
            </a:r>
            <a:r>
              <a:rPr lang="en-US" sz="2700" dirty="0" err="1">
                <a:solidFill>
                  <a:schemeClr val="bg1"/>
                </a:solidFill>
              </a:rPr>
              <a:t>OrderDate</a:t>
            </a:r>
            <a:r>
              <a:rPr lang="en-US" sz="2700" dirty="0">
                <a:solidFill>
                  <a:schemeClr val="bg1"/>
                </a:solidFill>
              </a:rPr>
              <a:t> (displaying only the date portion), and the Shipper’s CompanyName for all orders.</a:t>
            </a:r>
            <a:br>
              <a:rPr lang="en-US" sz="2700" dirty="0">
                <a:solidFill>
                  <a:schemeClr val="bg1"/>
                </a:solidFill>
              </a:rPr>
            </a:br>
            <a:r>
              <a:rPr lang="en-US" sz="2700" dirty="0">
                <a:solidFill>
                  <a:schemeClr val="bg1"/>
                </a:solidFill>
              </a:rPr>
              <a:t>Include only orders with an </a:t>
            </a:r>
            <a:r>
              <a:rPr lang="en-US" sz="2700" dirty="0" err="1">
                <a:solidFill>
                  <a:schemeClr val="bg1"/>
                </a:solidFill>
              </a:rPr>
              <a:t>OrderID</a:t>
            </a:r>
            <a:r>
              <a:rPr lang="en-US" sz="2700" dirty="0">
                <a:solidFill>
                  <a:schemeClr val="bg1"/>
                </a:solidFill>
              </a:rPr>
              <a:t> less than 10300 and sort the results by </a:t>
            </a:r>
            <a:r>
              <a:rPr lang="en-US" sz="2700" dirty="0" err="1">
                <a:solidFill>
                  <a:schemeClr val="bg1"/>
                </a:solidFill>
              </a:rPr>
              <a:t>OrderID</a:t>
            </a:r>
            <a:r>
              <a:rPr lang="en-US" dirty="0"/>
              <a:t>.</a:t>
            </a:r>
            <a:endParaRPr lang="en-IN" dirty="0"/>
          </a:p>
        </p:txBody>
      </p:sp>
      <p:pic>
        <p:nvPicPr>
          <p:cNvPr id="5" name="Picture 4">
            <a:extLst>
              <a:ext uri="{FF2B5EF4-FFF2-40B4-BE49-F238E27FC236}">
                <a16:creationId xmlns:a16="http://schemas.microsoft.com/office/drawing/2014/main" id="{559B65AF-197F-42DF-A7E0-F1C7376652FC}"/>
              </a:ext>
            </a:extLst>
          </p:cNvPr>
          <p:cNvPicPr>
            <a:picLocks noChangeAspect="1"/>
          </p:cNvPicPr>
          <p:nvPr/>
        </p:nvPicPr>
        <p:blipFill>
          <a:blip r:embed="rId2"/>
          <a:stretch>
            <a:fillRect/>
          </a:stretch>
        </p:blipFill>
        <p:spPr>
          <a:xfrm>
            <a:off x="6781801" y="2153846"/>
            <a:ext cx="4392705" cy="2135765"/>
          </a:xfrm>
          <a:prstGeom prst="rect">
            <a:avLst/>
          </a:prstGeom>
        </p:spPr>
      </p:pic>
      <p:sp>
        <p:nvSpPr>
          <p:cNvPr id="9" name="Rectangle 8">
            <a:extLst>
              <a:ext uri="{FF2B5EF4-FFF2-40B4-BE49-F238E27FC236}">
                <a16:creationId xmlns:a16="http://schemas.microsoft.com/office/drawing/2014/main" id="{FEBC9CFB-FE21-4126-BDE3-89D34364C4CD}"/>
              </a:ext>
            </a:extLst>
          </p:cNvPr>
          <p:cNvSpPr/>
          <p:nvPr/>
        </p:nvSpPr>
        <p:spPr>
          <a:xfrm>
            <a:off x="1017494" y="2248119"/>
            <a:ext cx="5921188" cy="1802549"/>
          </a:xfrm>
          <a:prstGeom prst="rect">
            <a:avLst/>
          </a:prstGeom>
        </p:spPr>
        <p:txBody>
          <a:bodyPr wrap="square">
            <a:spAutoFit/>
          </a:bodyPr>
          <a:lstStyle/>
          <a:p>
            <a:r>
              <a:rPr lang="en-US" dirty="0">
                <a:latin typeface="Consolas" panose="020B0609020204030204" pitchFamily="49" charset="0"/>
              </a:rPr>
              <a:t>Select </a:t>
            </a:r>
            <a:r>
              <a:rPr lang="en-US" dirty="0" err="1">
                <a:latin typeface="Consolas" panose="020B0609020204030204" pitchFamily="49" charset="0"/>
              </a:rPr>
              <a:t>Orders.OrderID,orderdate</a:t>
            </a:r>
            <a:r>
              <a:rPr lang="en-US" dirty="0">
                <a:latin typeface="Consolas" panose="020B0609020204030204" pitchFamily="49" charset="0"/>
              </a:rPr>
              <a:t>, </a:t>
            </a:r>
            <a:r>
              <a:rPr lang="en-US" dirty="0" err="1">
                <a:latin typeface="Consolas" panose="020B0609020204030204" pitchFamily="49" charset="0"/>
              </a:rPr>
              <a:t>Shippers.CompanyName</a:t>
            </a:r>
            <a:endParaRPr lang="en-US" dirty="0">
              <a:latin typeface="Consolas" panose="020B0609020204030204" pitchFamily="49" charset="0"/>
            </a:endParaRPr>
          </a:p>
          <a:p>
            <a:r>
              <a:rPr lang="en-IN" dirty="0">
                <a:latin typeface="Consolas" panose="020B0609020204030204" pitchFamily="49" charset="0"/>
              </a:rPr>
              <a:t>from [</a:t>
            </a:r>
            <a:r>
              <a:rPr lang="en-IN" dirty="0" err="1">
                <a:latin typeface="Consolas" panose="020B0609020204030204" pitchFamily="49" charset="0"/>
              </a:rPr>
              <a:t>dbo</a:t>
            </a:r>
            <a:r>
              <a:rPr lang="en-IN" dirty="0">
                <a:latin typeface="Consolas" panose="020B0609020204030204" pitchFamily="49" charset="0"/>
              </a:rPr>
              <a:t>].[Orders]</a:t>
            </a:r>
          </a:p>
          <a:p>
            <a:r>
              <a:rPr lang="en-IN" dirty="0">
                <a:latin typeface="Consolas" panose="020B0609020204030204" pitchFamily="49" charset="0"/>
              </a:rPr>
              <a:t>inner Join [</a:t>
            </a:r>
            <a:r>
              <a:rPr lang="en-IN" dirty="0" err="1">
                <a:latin typeface="Consolas" panose="020B0609020204030204" pitchFamily="49" charset="0"/>
              </a:rPr>
              <a:t>dbo</a:t>
            </a:r>
            <a:r>
              <a:rPr lang="en-IN" dirty="0">
                <a:latin typeface="Consolas" panose="020B0609020204030204" pitchFamily="49" charset="0"/>
              </a:rPr>
              <a:t>].[Shippers]</a:t>
            </a:r>
          </a:p>
          <a:p>
            <a:r>
              <a:rPr lang="en-US" dirty="0">
                <a:latin typeface="Consolas" panose="020B0609020204030204" pitchFamily="49" charset="0"/>
              </a:rPr>
              <a:t>on </a:t>
            </a:r>
            <a:r>
              <a:rPr lang="en-US" dirty="0" err="1">
                <a:latin typeface="Consolas" panose="020B0609020204030204" pitchFamily="49" charset="0"/>
              </a:rPr>
              <a:t>Orders.ShipVia</a:t>
            </a:r>
            <a:r>
              <a:rPr lang="en-US" dirty="0">
                <a:latin typeface="Consolas" panose="020B0609020204030204" pitchFamily="49" charset="0"/>
              </a:rPr>
              <a:t> = </a:t>
            </a:r>
            <a:r>
              <a:rPr lang="en-US" dirty="0" err="1">
                <a:latin typeface="Consolas" panose="020B0609020204030204" pitchFamily="49" charset="0"/>
              </a:rPr>
              <a:t>Shippers.ShipperID</a:t>
            </a:r>
            <a:endParaRPr lang="en-US" dirty="0">
              <a:latin typeface="Consolas" panose="020B0609020204030204" pitchFamily="49" charset="0"/>
            </a:endParaRPr>
          </a:p>
          <a:p>
            <a:r>
              <a:rPr lang="en-IN" dirty="0">
                <a:latin typeface="Consolas" panose="020B0609020204030204" pitchFamily="49" charset="0"/>
              </a:rPr>
              <a:t>where </a:t>
            </a:r>
            <a:r>
              <a:rPr lang="en-IN" dirty="0" err="1">
                <a:latin typeface="Consolas" panose="020B0609020204030204" pitchFamily="49" charset="0"/>
              </a:rPr>
              <a:t>OrderID</a:t>
            </a:r>
            <a:r>
              <a:rPr lang="en-IN" dirty="0">
                <a:latin typeface="Consolas" panose="020B0609020204030204" pitchFamily="49" charset="0"/>
              </a:rPr>
              <a:t> &lt; 10300 ----</a:t>
            </a:r>
            <a:r>
              <a:rPr lang="en-IN" dirty="0"/>
              <a:t>(52 rows affected)</a:t>
            </a:r>
          </a:p>
        </p:txBody>
      </p:sp>
      <p:sp>
        <p:nvSpPr>
          <p:cNvPr id="11" name="Rectangle 10">
            <a:extLst>
              <a:ext uri="{FF2B5EF4-FFF2-40B4-BE49-F238E27FC236}">
                <a16:creationId xmlns:a16="http://schemas.microsoft.com/office/drawing/2014/main" id="{A70B0884-CF43-4799-9874-F48C5BB39F42}"/>
              </a:ext>
            </a:extLst>
          </p:cNvPr>
          <p:cNvSpPr/>
          <p:nvPr/>
        </p:nvSpPr>
        <p:spPr>
          <a:xfrm>
            <a:off x="1143001" y="4050669"/>
            <a:ext cx="5513293" cy="2862322"/>
          </a:xfrm>
          <a:prstGeom prst="rect">
            <a:avLst/>
          </a:prstGeom>
        </p:spPr>
        <p:txBody>
          <a:bodyPr wrap="square">
            <a:spAutoFit/>
          </a:bodyPr>
          <a:lstStyle/>
          <a:p>
            <a:r>
              <a:rPr lang="en-US" b="1" dirty="0">
                <a:solidFill>
                  <a:schemeClr val="bg1"/>
                </a:solidFill>
              </a:rPr>
              <a:t>Orders ID         Order Date                   Company Name</a:t>
            </a:r>
            <a:endParaRPr lang="en-IN" b="1" dirty="0">
              <a:solidFill>
                <a:schemeClr val="bg1"/>
              </a:solidFill>
            </a:endParaRPr>
          </a:p>
          <a:p>
            <a:r>
              <a:rPr lang="en-IN" dirty="0"/>
              <a:t>10248	 2014-07-04 08:00:00.000	Federal Shipping</a:t>
            </a:r>
          </a:p>
          <a:p>
            <a:r>
              <a:rPr lang="en-IN" dirty="0"/>
              <a:t>10249	 2014-07-05 04:00:00.000	Speedy Express</a:t>
            </a:r>
          </a:p>
          <a:p>
            <a:r>
              <a:rPr lang="en-IN" dirty="0"/>
              <a:t>10250	 2014-07-08 15:00:00.000	United Package</a:t>
            </a:r>
          </a:p>
          <a:p>
            <a:r>
              <a:rPr lang="en-IN" dirty="0"/>
              <a:t>10251	 2014-07-08 14:00:00.000	Speedy Express</a:t>
            </a:r>
          </a:p>
          <a:p>
            <a:r>
              <a:rPr lang="en-IN" dirty="0"/>
              <a:t>10252	 2014-07-09 01:00:00.000	United Package</a:t>
            </a:r>
          </a:p>
          <a:p>
            <a:endParaRPr lang="en-IN" dirty="0"/>
          </a:p>
          <a:p>
            <a:r>
              <a:rPr lang="en-US" dirty="0"/>
              <a:t>10297	2014-09-04 21:00:00.000	United Package</a:t>
            </a:r>
          </a:p>
          <a:p>
            <a:r>
              <a:rPr lang="en-US" dirty="0"/>
              <a:t>10298	2014-09-05 16:00:00.000	United Package</a:t>
            </a:r>
          </a:p>
          <a:p>
            <a:r>
              <a:rPr lang="en-US" dirty="0"/>
              <a:t>10299	2014-09-06 01:00:00.000	United Package</a:t>
            </a:r>
            <a:endParaRPr lang="en-IN" dirty="0"/>
          </a:p>
        </p:txBody>
      </p:sp>
    </p:spTree>
    <p:extLst>
      <p:ext uri="{BB962C8B-B14F-4D97-AF65-F5344CB8AC3E}">
        <p14:creationId xmlns:p14="http://schemas.microsoft.com/office/powerpoint/2010/main" val="238556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878E8E-B9D1-4FA8-AA1B-F7CD69C0DCF5}"/>
              </a:ext>
            </a:extLst>
          </p:cNvPr>
          <p:cNvSpPr>
            <a:spLocks noGrp="1"/>
          </p:cNvSpPr>
          <p:nvPr>
            <p:ph idx="1"/>
          </p:nvPr>
        </p:nvSpPr>
        <p:spPr>
          <a:xfrm>
            <a:off x="818682" y="1627094"/>
            <a:ext cx="9495211" cy="1532965"/>
          </a:xfrm>
        </p:spPr>
        <p:txBody>
          <a:bodyPr>
            <a:normAutofit fontScale="70000" lnSpcReduction="20000"/>
          </a:bodyPr>
          <a:lstStyle/>
          <a:p>
            <a:endParaRPr lang="en-IN" dirty="0"/>
          </a:p>
          <a:p>
            <a:pPr marL="0" indent="0">
              <a:buNone/>
            </a:pPr>
            <a:r>
              <a:rPr lang="en-US" dirty="0"/>
              <a:t>    Select </a:t>
            </a:r>
            <a:r>
              <a:rPr lang="en-US" dirty="0" err="1"/>
              <a:t>ProductID,ProductName,UnitsInStock,ReorderLevel</a:t>
            </a:r>
            <a:endParaRPr lang="en-US" dirty="0"/>
          </a:p>
          <a:p>
            <a:pPr marL="0" indent="0">
              <a:buNone/>
            </a:pPr>
            <a:r>
              <a:rPr lang="en-IN" dirty="0"/>
              <a:t>    from [</a:t>
            </a:r>
            <a:r>
              <a:rPr lang="en-IN" dirty="0" err="1"/>
              <a:t>dbo</a:t>
            </a:r>
            <a:r>
              <a:rPr lang="en-IN" dirty="0"/>
              <a:t>].[Products]</a:t>
            </a:r>
          </a:p>
          <a:p>
            <a:pPr marL="0" indent="0">
              <a:buNone/>
            </a:pPr>
            <a:r>
              <a:rPr lang="en-IN" dirty="0"/>
              <a:t>    where </a:t>
            </a:r>
            <a:r>
              <a:rPr lang="en-IN" dirty="0" err="1"/>
              <a:t>UnitsInStock</a:t>
            </a:r>
            <a:r>
              <a:rPr lang="en-IN" dirty="0"/>
              <a:t> &lt; </a:t>
            </a:r>
            <a:r>
              <a:rPr lang="en-IN" dirty="0" err="1"/>
              <a:t>ReorderLevel</a:t>
            </a:r>
            <a:r>
              <a:rPr lang="en-IN" dirty="0"/>
              <a:t> ----(18 rows affected)</a:t>
            </a:r>
          </a:p>
        </p:txBody>
      </p:sp>
      <p:sp>
        <p:nvSpPr>
          <p:cNvPr id="7" name="Rectangle 1">
            <a:extLst>
              <a:ext uri="{FF2B5EF4-FFF2-40B4-BE49-F238E27FC236}">
                <a16:creationId xmlns:a16="http://schemas.microsoft.com/office/drawing/2014/main" id="{3CF6A755-2619-4AB1-A0DA-F8ACE591DD7B}"/>
              </a:ext>
            </a:extLst>
          </p:cNvPr>
          <p:cNvSpPr>
            <a:spLocks noChangeArrowheads="1"/>
          </p:cNvSpPr>
          <p:nvPr/>
        </p:nvSpPr>
        <p:spPr bwMode="auto">
          <a:xfrm>
            <a:off x="818682" y="712856"/>
            <a:ext cx="109520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rial" panose="020B0604020202020204" pitchFamily="34" charset="0"/>
              </a:rPr>
              <a:t>9.Analyze the inventory data to determine which products have fallen below their reorder level,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rial" panose="020B0604020202020204" pitchFamily="34" charset="0"/>
              </a:rPr>
              <a:t>considering only </a:t>
            </a:r>
            <a:r>
              <a:rPr kumimoji="0" lang="en-US" altLang="en-US" sz="2000" b="0" i="0" u="none" strike="noStrike" cap="none" normalizeH="0" baseline="0" dirty="0">
                <a:ln>
                  <a:noFill/>
                </a:ln>
                <a:solidFill>
                  <a:schemeClr val="bg1"/>
                </a:solidFill>
                <a:effectLst/>
                <a:latin typeface="Arial Unicode MS"/>
              </a:rPr>
              <a:t>Units In Stock</a:t>
            </a:r>
            <a:r>
              <a:rPr kumimoji="0" lang="en-US" altLang="en-US" sz="2000" b="0" i="0" u="none" strike="noStrike" cap="none" normalizeH="0" baseline="0" dirty="0">
                <a:ln>
                  <a:noFill/>
                </a:ln>
                <a:solidFill>
                  <a:schemeClr val="bg1"/>
                </a:solidFill>
                <a:effectLst/>
              </a:rPr>
              <a:t> and </a:t>
            </a:r>
            <a:r>
              <a:rPr kumimoji="0" lang="en-US" altLang="en-US" sz="2000" b="0" i="0" u="none" strike="noStrike" cap="none" normalizeH="0" baseline="0" dirty="0">
                <a:ln>
                  <a:noFill/>
                </a:ln>
                <a:solidFill>
                  <a:schemeClr val="bg1"/>
                </a:solidFill>
                <a:effectLst/>
                <a:latin typeface="Arial Unicode MS"/>
              </a:rPr>
              <a:t>Reorder Level</a:t>
            </a:r>
            <a:r>
              <a:rPr kumimoji="0" lang="en-US" altLang="en-US" sz="2000" b="0" i="0" u="none" strike="noStrike" cap="none" normalizeH="0" baseline="0" dirty="0">
                <a:ln>
                  <a:noFill/>
                </a:ln>
                <a:solidFill>
                  <a:schemeClr val="bg1"/>
                </a:solidFill>
                <a:effectLst/>
              </a:rPr>
              <a:t>. </a:t>
            </a:r>
            <a:endParaRPr kumimoji="0" lang="en-US" altLang="en-US" sz="2000" b="0" i="0" u="none" strike="noStrike" cap="none" normalizeH="0" baseline="0" dirty="0">
              <a:ln>
                <a:noFill/>
              </a:ln>
              <a:solidFill>
                <a:schemeClr val="bg1"/>
              </a:solidFill>
              <a:effectLst/>
              <a:latin typeface="Arial" panose="020B0604020202020204" pitchFamily="34" charset="0"/>
            </a:endParaRPr>
          </a:p>
        </p:txBody>
      </p:sp>
      <p:sp>
        <p:nvSpPr>
          <p:cNvPr id="8" name="Rectangle 7">
            <a:extLst>
              <a:ext uri="{FF2B5EF4-FFF2-40B4-BE49-F238E27FC236}">
                <a16:creationId xmlns:a16="http://schemas.microsoft.com/office/drawing/2014/main" id="{70A5B535-30B2-4555-B3FB-BA12BE7C70DB}"/>
              </a:ext>
            </a:extLst>
          </p:cNvPr>
          <p:cNvSpPr/>
          <p:nvPr/>
        </p:nvSpPr>
        <p:spPr>
          <a:xfrm>
            <a:off x="1192305" y="3429000"/>
            <a:ext cx="6943165" cy="3416320"/>
          </a:xfrm>
          <a:prstGeom prst="rect">
            <a:avLst/>
          </a:prstGeom>
        </p:spPr>
        <p:txBody>
          <a:bodyPr wrap="square">
            <a:spAutoFit/>
          </a:bodyPr>
          <a:lstStyle/>
          <a:p>
            <a:r>
              <a:rPr lang="en-US" b="1" dirty="0">
                <a:solidFill>
                  <a:schemeClr val="bg2">
                    <a:lumMod val="75000"/>
                  </a:schemeClr>
                </a:solidFill>
              </a:rPr>
              <a:t>Product ID 	Product Name		 	Unit in Stock 		Record Level </a:t>
            </a:r>
            <a:endParaRPr lang="en-IN" b="1" dirty="0">
              <a:solidFill>
                <a:schemeClr val="bg2">
                  <a:lumMod val="75000"/>
                </a:schemeClr>
              </a:solidFill>
            </a:endParaRPr>
          </a:p>
          <a:p>
            <a:r>
              <a:rPr lang="en-IN" dirty="0"/>
              <a:t>	2		Chang					17				25</a:t>
            </a:r>
          </a:p>
          <a:p>
            <a:r>
              <a:rPr lang="en-IN" dirty="0"/>
              <a:t>	3		Aniseed Syrup				13				25</a:t>
            </a:r>
          </a:p>
          <a:p>
            <a:r>
              <a:rPr lang="en-IN" dirty="0"/>
              <a:t>	11		Queso </a:t>
            </a:r>
            <a:r>
              <a:rPr lang="en-IN" dirty="0" err="1"/>
              <a:t>Cabrales</a:t>
            </a:r>
            <a:r>
              <a:rPr lang="en-IN" dirty="0"/>
              <a:t>			22				30</a:t>
            </a:r>
          </a:p>
          <a:p>
            <a:r>
              <a:rPr lang="en-IN" dirty="0"/>
              <a:t>	21		Sir Rodney's Scones			3				  5</a:t>
            </a:r>
          </a:p>
          <a:p>
            <a:r>
              <a:rPr lang="en-IN" dirty="0"/>
              <a:t>	30		Nord-Ost </a:t>
            </a:r>
            <a:r>
              <a:rPr lang="en-IN" dirty="0" err="1"/>
              <a:t>Matjeshering</a:t>
            </a:r>
            <a:r>
              <a:rPr lang="en-IN" dirty="0"/>
              <a:t>		10				15</a:t>
            </a:r>
          </a:p>
          <a:p>
            <a:r>
              <a:rPr lang="en-IN" dirty="0"/>
              <a:t>	56		Gnocchi di </a:t>
            </a:r>
            <a:r>
              <a:rPr lang="en-IN" dirty="0" err="1"/>
              <a:t>nonna</a:t>
            </a:r>
            <a:r>
              <a:rPr lang="en-IN" dirty="0"/>
              <a:t> Alice		21				30</a:t>
            </a:r>
          </a:p>
          <a:p>
            <a:r>
              <a:rPr lang="en-IN" dirty="0"/>
              <a:t>	64	</a:t>
            </a:r>
            <a:r>
              <a:rPr lang="en-IN" dirty="0" err="1"/>
              <a:t>Wimmers</a:t>
            </a:r>
            <a:r>
              <a:rPr lang="en-IN" dirty="0"/>
              <a:t> </a:t>
            </a:r>
            <a:r>
              <a:rPr lang="en-IN" dirty="0" err="1"/>
              <a:t>gute</a:t>
            </a:r>
            <a:r>
              <a:rPr lang="en-IN" dirty="0"/>
              <a:t> </a:t>
            </a:r>
            <a:r>
              <a:rPr lang="en-IN" dirty="0" err="1"/>
              <a:t>Semmelknödel</a:t>
            </a:r>
            <a:r>
              <a:rPr lang="en-IN" dirty="0"/>
              <a:t>		22				30</a:t>
            </a:r>
          </a:p>
          <a:p>
            <a:r>
              <a:rPr lang="en-IN" dirty="0"/>
              <a:t>	66	Louisiana Hot Spiced Okra		4				20</a:t>
            </a:r>
          </a:p>
          <a:p>
            <a:r>
              <a:rPr lang="en-IN" dirty="0"/>
              <a:t>	68		Scottish </a:t>
            </a:r>
            <a:r>
              <a:rPr lang="en-IN" dirty="0" err="1"/>
              <a:t>Longbreads</a:t>
            </a:r>
            <a:r>
              <a:rPr lang="en-IN" dirty="0"/>
              <a:t>			6				15</a:t>
            </a:r>
          </a:p>
          <a:p>
            <a:r>
              <a:rPr lang="en-IN" dirty="0"/>
              <a:t>	70		Outback Lager				15				30</a:t>
            </a:r>
          </a:p>
          <a:p>
            <a:r>
              <a:rPr lang="en-IN" dirty="0"/>
              <a:t>	74		</a:t>
            </a:r>
            <a:r>
              <a:rPr lang="en-IN" dirty="0" err="1"/>
              <a:t>Longlife</a:t>
            </a:r>
            <a:r>
              <a:rPr lang="en-IN" dirty="0"/>
              <a:t> Tofu				4				5</a:t>
            </a:r>
          </a:p>
        </p:txBody>
      </p:sp>
    </p:spTree>
    <p:extLst>
      <p:ext uri="{BB962C8B-B14F-4D97-AF65-F5344CB8AC3E}">
        <p14:creationId xmlns:p14="http://schemas.microsoft.com/office/powerpoint/2010/main" val="4099705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B654-EAA7-40EC-BF0C-5F9F248B736C}"/>
              </a:ext>
            </a:extLst>
          </p:cNvPr>
          <p:cNvSpPr>
            <a:spLocks noGrp="1"/>
          </p:cNvSpPr>
          <p:nvPr>
            <p:ph type="title"/>
          </p:nvPr>
        </p:nvSpPr>
        <p:spPr>
          <a:xfrm>
            <a:off x="1141413" y="618518"/>
            <a:ext cx="9905998" cy="1331306"/>
          </a:xfrm>
        </p:spPr>
        <p:txBody>
          <a:bodyPr>
            <a:normAutofit/>
          </a:bodyPr>
          <a:lstStyle/>
          <a:p>
            <a:r>
              <a:rPr lang="en-US" sz="2000" dirty="0">
                <a:solidFill>
                  <a:schemeClr val="bg2">
                    <a:lumMod val="75000"/>
                  </a:schemeClr>
                </a:solidFill>
              </a:rPr>
              <a:t>10.Analyze the Orders data to determine the three ship countries with the highest overall average freight charges, ordered in descending order by average freight.</a:t>
            </a:r>
            <a:endParaRPr lang="en-IN" sz="2000" dirty="0">
              <a:solidFill>
                <a:schemeClr val="bg2">
                  <a:lumMod val="75000"/>
                </a:schemeClr>
              </a:solidFill>
            </a:endParaRPr>
          </a:p>
        </p:txBody>
      </p:sp>
      <p:pic>
        <p:nvPicPr>
          <p:cNvPr id="4" name="Content Placeholder 3">
            <a:extLst>
              <a:ext uri="{FF2B5EF4-FFF2-40B4-BE49-F238E27FC236}">
                <a16:creationId xmlns:a16="http://schemas.microsoft.com/office/drawing/2014/main" id="{6A80BBD8-3D0B-40E5-ABFC-89EA8570C13A}"/>
              </a:ext>
            </a:extLst>
          </p:cNvPr>
          <p:cNvPicPr>
            <a:picLocks noGrp="1" noChangeAspect="1"/>
          </p:cNvPicPr>
          <p:nvPr>
            <p:ph idx="1"/>
          </p:nvPr>
        </p:nvPicPr>
        <p:blipFill>
          <a:blip r:embed="rId2"/>
          <a:stretch>
            <a:fillRect/>
          </a:stretch>
        </p:blipFill>
        <p:spPr>
          <a:xfrm>
            <a:off x="6225988" y="2549988"/>
            <a:ext cx="4713847" cy="3514636"/>
          </a:xfrm>
          <a:prstGeom prst="rect">
            <a:avLst/>
          </a:prstGeom>
        </p:spPr>
      </p:pic>
      <p:sp>
        <p:nvSpPr>
          <p:cNvPr id="5" name="Rectangle 4">
            <a:extLst>
              <a:ext uri="{FF2B5EF4-FFF2-40B4-BE49-F238E27FC236}">
                <a16:creationId xmlns:a16="http://schemas.microsoft.com/office/drawing/2014/main" id="{D16534D2-23A9-48D5-9015-2206DC33FA02}"/>
              </a:ext>
            </a:extLst>
          </p:cNvPr>
          <p:cNvSpPr/>
          <p:nvPr/>
        </p:nvSpPr>
        <p:spPr>
          <a:xfrm>
            <a:off x="1595718" y="4308012"/>
            <a:ext cx="6096000" cy="1200329"/>
          </a:xfrm>
          <a:prstGeom prst="rect">
            <a:avLst/>
          </a:prstGeom>
        </p:spPr>
        <p:txBody>
          <a:bodyPr>
            <a:spAutoFit/>
          </a:bodyPr>
          <a:lstStyle/>
          <a:p>
            <a:r>
              <a:rPr lang="en-IN" dirty="0">
                <a:solidFill>
                  <a:schemeClr val="bg1"/>
                </a:solidFill>
              </a:rPr>
              <a:t>Ship Country		Average freight</a:t>
            </a:r>
          </a:p>
          <a:p>
            <a:r>
              <a:rPr lang="en-IN" dirty="0"/>
              <a:t>Austria	        	184.7875</a:t>
            </a:r>
          </a:p>
          <a:p>
            <a:r>
              <a:rPr lang="en-IN" dirty="0"/>
              <a:t>Ireland			145.0126</a:t>
            </a:r>
          </a:p>
          <a:p>
            <a:r>
              <a:rPr lang="en-IN" dirty="0"/>
              <a:t>USA				112.8794</a:t>
            </a:r>
          </a:p>
        </p:txBody>
      </p:sp>
      <p:sp>
        <p:nvSpPr>
          <p:cNvPr id="6" name="Rectangle 5">
            <a:extLst>
              <a:ext uri="{FF2B5EF4-FFF2-40B4-BE49-F238E27FC236}">
                <a16:creationId xmlns:a16="http://schemas.microsoft.com/office/drawing/2014/main" id="{1CC2B160-AAA3-412C-A295-BF3CE37293C2}"/>
              </a:ext>
            </a:extLst>
          </p:cNvPr>
          <p:cNvSpPr/>
          <p:nvPr/>
        </p:nvSpPr>
        <p:spPr>
          <a:xfrm>
            <a:off x="1141413" y="1820469"/>
            <a:ext cx="6096000" cy="1754326"/>
          </a:xfrm>
          <a:prstGeom prst="rect">
            <a:avLst/>
          </a:prstGeom>
        </p:spPr>
        <p:txBody>
          <a:bodyPr>
            <a:spAutoFit/>
          </a:bodyPr>
          <a:lstStyle/>
          <a:p>
            <a:endParaRPr lang="en-IN" dirty="0">
              <a:latin typeface="Consolas" panose="020B0609020204030204" pitchFamily="49" charset="0"/>
            </a:endParaRPr>
          </a:p>
          <a:p>
            <a:r>
              <a:rPr lang="en-US" dirty="0">
                <a:latin typeface="Consolas" panose="020B0609020204030204" pitchFamily="49" charset="0"/>
              </a:rPr>
              <a:t>Select top 3  </a:t>
            </a:r>
            <a:r>
              <a:rPr lang="en-US" dirty="0" err="1">
                <a:latin typeface="Consolas" panose="020B0609020204030204" pitchFamily="49" charset="0"/>
              </a:rPr>
              <a:t>ShipCountry,avg</a:t>
            </a:r>
            <a:r>
              <a:rPr lang="en-US" dirty="0">
                <a:latin typeface="Consolas" panose="020B0609020204030204" pitchFamily="49" charset="0"/>
              </a:rPr>
              <a:t> (Freight) as </a:t>
            </a:r>
            <a:r>
              <a:rPr lang="en-US" dirty="0" err="1">
                <a:latin typeface="Consolas" panose="020B0609020204030204" pitchFamily="49" charset="0"/>
              </a:rPr>
              <a:t>Averagefreight</a:t>
            </a:r>
            <a:endParaRPr lang="en-US" dirty="0">
              <a:latin typeface="Consolas" panose="020B0609020204030204" pitchFamily="49" charset="0"/>
            </a:endParaRPr>
          </a:p>
          <a:p>
            <a:r>
              <a:rPr lang="en-IN" dirty="0">
                <a:latin typeface="Consolas" panose="020B0609020204030204" pitchFamily="49" charset="0"/>
              </a:rPr>
              <a:t>from [</a:t>
            </a:r>
            <a:r>
              <a:rPr lang="en-IN" dirty="0" err="1">
                <a:latin typeface="Consolas" panose="020B0609020204030204" pitchFamily="49" charset="0"/>
              </a:rPr>
              <a:t>dbo</a:t>
            </a:r>
            <a:r>
              <a:rPr lang="en-IN" dirty="0">
                <a:latin typeface="Consolas" panose="020B0609020204030204" pitchFamily="49" charset="0"/>
              </a:rPr>
              <a:t>].[Orders]</a:t>
            </a:r>
          </a:p>
          <a:p>
            <a:r>
              <a:rPr lang="en-IN" dirty="0">
                <a:latin typeface="Consolas" panose="020B0609020204030204" pitchFamily="49" charset="0"/>
              </a:rPr>
              <a:t>group by </a:t>
            </a:r>
            <a:r>
              <a:rPr lang="en-IN" dirty="0" err="1">
                <a:latin typeface="Consolas" panose="020B0609020204030204" pitchFamily="49" charset="0"/>
              </a:rPr>
              <a:t>ShipCountry</a:t>
            </a:r>
            <a:r>
              <a:rPr lang="en-IN" dirty="0">
                <a:latin typeface="Consolas" panose="020B0609020204030204" pitchFamily="49" charset="0"/>
              </a:rPr>
              <a:t> </a:t>
            </a:r>
          </a:p>
          <a:p>
            <a:r>
              <a:rPr lang="en-IN" dirty="0">
                <a:latin typeface="Consolas" panose="020B0609020204030204" pitchFamily="49" charset="0"/>
              </a:rPr>
              <a:t>order by  </a:t>
            </a:r>
            <a:r>
              <a:rPr lang="en-IN" dirty="0" err="1">
                <a:latin typeface="Consolas" panose="020B0609020204030204" pitchFamily="49" charset="0"/>
              </a:rPr>
              <a:t>averagefreight</a:t>
            </a:r>
            <a:r>
              <a:rPr lang="en-IN" dirty="0">
                <a:latin typeface="Consolas" panose="020B0609020204030204" pitchFamily="49" charset="0"/>
              </a:rPr>
              <a:t> </a:t>
            </a:r>
            <a:r>
              <a:rPr lang="en-IN" dirty="0" err="1">
                <a:latin typeface="Consolas" panose="020B0609020204030204" pitchFamily="49" charset="0"/>
              </a:rPr>
              <a:t>desc</a:t>
            </a:r>
            <a:endParaRPr lang="en-IN" dirty="0"/>
          </a:p>
        </p:txBody>
      </p:sp>
    </p:spTree>
    <p:extLst>
      <p:ext uri="{BB962C8B-B14F-4D97-AF65-F5344CB8AC3E}">
        <p14:creationId xmlns:p14="http://schemas.microsoft.com/office/powerpoint/2010/main" val="1019501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5CD30-83B5-4992-8B56-1DF3D9385FD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B546EE5-2013-4B81-A996-2BE8E374938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48FABC0-2156-431B-8DCC-652F96C70511}"/>
              </a:ext>
            </a:extLst>
          </p:cNvPr>
          <p:cNvPicPr>
            <a:picLocks noChangeAspect="1"/>
          </p:cNvPicPr>
          <p:nvPr/>
        </p:nvPicPr>
        <p:blipFill>
          <a:blip r:embed="rId2"/>
          <a:stretch>
            <a:fillRect/>
          </a:stretch>
        </p:blipFill>
        <p:spPr>
          <a:xfrm>
            <a:off x="-35624" y="0"/>
            <a:ext cx="12227623" cy="6858000"/>
          </a:xfrm>
          <a:prstGeom prst="rect">
            <a:avLst/>
          </a:prstGeom>
        </p:spPr>
      </p:pic>
    </p:spTree>
    <p:extLst>
      <p:ext uri="{BB962C8B-B14F-4D97-AF65-F5344CB8AC3E}">
        <p14:creationId xmlns:p14="http://schemas.microsoft.com/office/powerpoint/2010/main" val="36414458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742</TotalTime>
  <Words>1475</Words>
  <Application>Microsoft Office PowerPoint</Application>
  <PresentationFormat>Widescreen</PresentationFormat>
  <Paragraphs>136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Unicode MS</vt:lpstr>
      <vt:lpstr>Consolas</vt:lpstr>
      <vt:lpstr>Trebuchet MS</vt:lpstr>
      <vt:lpstr>Tw Cen MT</vt:lpstr>
      <vt:lpstr>Circuit</vt:lpstr>
      <vt:lpstr>PowerPoint Presentation</vt:lpstr>
      <vt:lpstr>PowerPoint Presentation</vt:lpstr>
      <vt:lpstr>                  Technology Stack</vt:lpstr>
      <vt:lpstr>Steps Followed:</vt:lpstr>
      <vt:lpstr>1. Write a SQL query to display the first name, last name, and hiring date of all employees who are designated as Sales Representatives. </vt:lpstr>
      <vt:lpstr>2 How would you extract supplier details (Supplier ID, Contact Name, Contact Title) for all suppliers except those with the title Marketing Manager ?</vt:lpstr>
      <vt:lpstr>4.A company wants to analyze orders delivered to France and Belgium. Using the Orders table, write a SQL query that displays Order ID, Customer ID, and Ship Country for those shipments.</vt:lpstr>
      <vt:lpstr>5.Show only the FirstName, Last Name, and Birth Date of employees,  but display only the date portion.</vt:lpstr>
      <vt:lpstr>6.How many customers do we have in the Customers table? Show one value only, and don’t rely on getting the record count at the end of a result set. Give the result in power bi dax query and sql syntax</vt:lpstr>
      <vt:lpstr>7.Display a list of all unique Contact Title values from the Customers table along with the count of customers for each Contact Title. </vt:lpstr>
      <vt:lpstr>8.Retrieve the OrderID, OrderDate (displaying only the date portion), and the Shipper’s CompanyName for all orders. Include only orders with an OrderID less than 10300 and sort the results by OrderID.</vt:lpstr>
      <vt:lpstr>PowerPoint Presentation</vt:lpstr>
      <vt:lpstr>10.Analyze the Orders data to determine the three ship countries with the highest overall average freight charges, ordered in descending order by average freight.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Balasubramanya</dc:creator>
  <cp:lastModifiedBy>Balasubramanya</cp:lastModifiedBy>
  <cp:revision>36</cp:revision>
  <cp:lastPrinted>2025-12-27T10:41:02Z</cp:lastPrinted>
  <dcterms:created xsi:type="dcterms:W3CDTF">2025-12-27T10:01:44Z</dcterms:created>
  <dcterms:modified xsi:type="dcterms:W3CDTF">2025-12-31T11:38:10Z</dcterms:modified>
</cp:coreProperties>
</file>