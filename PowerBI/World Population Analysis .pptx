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8"/>
  </p:notesMasterIdLst>
  <p:sldIdLst>
    <p:sldId id="256" r:id="rId2"/>
    <p:sldId id="258" r:id="rId3"/>
    <p:sldId id="263" r:id="rId4"/>
    <p:sldId id="257" r:id="rId5"/>
    <p:sldId id="259" r:id="rId6"/>
    <p:sldId id="260" r:id="rId7"/>
    <p:sldId id="275" r:id="rId8"/>
    <p:sldId id="264" r:id="rId9"/>
    <p:sldId id="266" r:id="rId10"/>
    <p:sldId id="265" r:id="rId11"/>
    <p:sldId id="267" r:id="rId12"/>
    <p:sldId id="268" r:id="rId13"/>
    <p:sldId id="273" r:id="rId14"/>
    <p:sldId id="271" r:id="rId15"/>
    <p:sldId id="270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9CA8"/>
    <a:srgbClr val="F0868E"/>
    <a:srgbClr val="F08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89AEC-F501-423B-A9E0-AA9ED66636D4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20D10-FB71-42A5-AD64-33520013A6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31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F20D10-FB71-42A5-AD64-33520013A6A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7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6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05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4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4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03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25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03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97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9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807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44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4CE4E-B003-4BCE-9BF2-3F765398D34E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C361F-4BB3-48DE-AF23-085F34703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7053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ABAF45-2681-42BE-8C27-18CB51FBC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7A94E6-2987-4585-9293-91C81390B38E}"/>
              </a:ext>
            </a:extLst>
          </p:cNvPr>
          <p:cNvSpPr/>
          <p:nvPr/>
        </p:nvSpPr>
        <p:spPr>
          <a:xfrm>
            <a:off x="176212" y="24833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rgbClr val="3A9CA8"/>
                </a:solidFill>
                <a:latin typeface="Arial Rounded MT Bold" panose="020F0704030504030204" pitchFamily="34" charset="0"/>
              </a:rPr>
              <a:t>WORLD POPULATION DATA ANALYSIS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05545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2DF81-C2B9-FBC9-CA50-E2BD2CEF03AB}"/>
              </a:ext>
            </a:extLst>
          </p:cNvPr>
          <p:cNvSpPr txBox="1"/>
          <p:nvPr/>
        </p:nvSpPr>
        <p:spPr>
          <a:xfrm>
            <a:off x="3414713" y="1001970"/>
            <a:ext cx="4801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00B050"/>
                </a:solidFill>
              </a:rPr>
              <a:t>Objective of the Analysis</a:t>
            </a:r>
            <a:endParaRPr lang="en-IN" sz="36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07D938-23D7-035E-95E7-933C66130FFB}"/>
              </a:ext>
            </a:extLst>
          </p:cNvPr>
          <p:cNvSpPr txBox="1"/>
          <p:nvPr/>
        </p:nvSpPr>
        <p:spPr>
          <a:xfrm>
            <a:off x="0" y="2274838"/>
            <a:ext cx="121920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Understand global population distribution and trends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Analyze population by age group, gender, continent, and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Identify key demographic insights for decision-making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3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21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22FBD6-5D00-C928-1677-BD11C729C3C5}"/>
              </a:ext>
            </a:extLst>
          </p:cNvPr>
          <p:cNvSpPr txBox="1"/>
          <p:nvPr/>
        </p:nvSpPr>
        <p:spPr>
          <a:xfrm>
            <a:off x="4604996" y="1899742"/>
            <a:ext cx="46390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TOOLS USED</a:t>
            </a:r>
            <a:endParaRPr lang="en-IN" sz="44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12F75-E0CD-3313-52C7-51ED2E236668}"/>
              </a:ext>
            </a:extLst>
          </p:cNvPr>
          <p:cNvSpPr txBox="1"/>
          <p:nvPr/>
        </p:nvSpPr>
        <p:spPr>
          <a:xfrm>
            <a:off x="2781037" y="3136612"/>
            <a:ext cx="6988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Microsoft Power BI, Power Query &amp; DAX </a:t>
            </a:r>
            <a:endParaRPr lang="en-IN" sz="32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148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5F2F3-F545-FB23-684B-5C2447474CB2}"/>
              </a:ext>
            </a:extLst>
          </p:cNvPr>
          <p:cNvSpPr txBox="1"/>
          <p:nvPr/>
        </p:nvSpPr>
        <p:spPr>
          <a:xfrm>
            <a:off x="4312627" y="914543"/>
            <a:ext cx="35667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DATA</a:t>
            </a:r>
            <a:r>
              <a:rPr lang="en-US" sz="4000" b="1" dirty="0">
                <a:solidFill>
                  <a:srgbClr val="3A9CA8"/>
                </a:solidFill>
              </a:rPr>
              <a:t> </a:t>
            </a:r>
            <a:r>
              <a:rPr lang="en-US" sz="4000" b="1" dirty="0">
                <a:solidFill>
                  <a:srgbClr val="00B050"/>
                </a:solidFill>
              </a:rPr>
              <a:t>CLEANING</a:t>
            </a: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1AC55-0951-EDDB-B699-E08B13EE8589}"/>
              </a:ext>
            </a:extLst>
          </p:cNvPr>
          <p:cNvSpPr txBox="1"/>
          <p:nvPr/>
        </p:nvSpPr>
        <p:spPr>
          <a:xfrm>
            <a:off x="2639028" y="5220182"/>
            <a:ext cx="7384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4F21C2-7331-770E-F7C6-EC37F9B95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17" y="1865417"/>
            <a:ext cx="12008766" cy="8156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Changed the data types for columns with incorrect data types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Column names were renamed with appropriate names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The Age Group column contained a few rows with months along with age groups. These months were replaced with numbers.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Men and Women population columns were multiplied by 1000 and rounded up.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Removed unwanted columns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Pivoted men and women population columns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The two tables were appended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69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8F8C1-AFD4-389C-FBDF-9CCAB8E3840F}"/>
              </a:ext>
            </a:extLst>
          </p:cNvPr>
          <p:cNvSpPr txBox="1"/>
          <p:nvPr/>
        </p:nvSpPr>
        <p:spPr>
          <a:xfrm>
            <a:off x="4065451" y="1115914"/>
            <a:ext cx="4061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DATA MODELLING</a:t>
            </a: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C5DFB-A722-EAA2-7476-D51595770B5F}"/>
              </a:ext>
            </a:extLst>
          </p:cNvPr>
          <p:cNvSpPr txBox="1"/>
          <p:nvPr/>
        </p:nvSpPr>
        <p:spPr>
          <a:xfrm>
            <a:off x="131199" y="2325766"/>
            <a:ext cx="119296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Once done with cleaning and transformation, I closed and loaded the dataset into the model and created relationship between 3 tables (using one – to many relationship)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Fact Population as Fact table &amp; Dim Region and Dim Age as dimensional tables</a:t>
            </a:r>
            <a:endParaRPr lang="en-IN" sz="36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21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A11319-00DD-C6F3-6892-69E063955B9C}"/>
              </a:ext>
            </a:extLst>
          </p:cNvPr>
          <p:cNvSpPr txBox="1"/>
          <p:nvPr/>
        </p:nvSpPr>
        <p:spPr>
          <a:xfrm>
            <a:off x="4169858" y="350535"/>
            <a:ext cx="34808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B050"/>
                </a:solidFill>
              </a:rPr>
              <a:t>DATA</a:t>
            </a:r>
            <a:r>
              <a:rPr lang="en-US" sz="4000" b="1" dirty="0">
                <a:solidFill>
                  <a:srgbClr val="3A9CA8"/>
                </a:solidFill>
              </a:rPr>
              <a:t> </a:t>
            </a:r>
            <a:r>
              <a:rPr lang="en-US" sz="4000" b="1" dirty="0">
                <a:solidFill>
                  <a:srgbClr val="00B050"/>
                </a:solidFill>
              </a:rPr>
              <a:t>ANALYSIS</a:t>
            </a: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B01AB9-2BB4-949F-D8FD-7A903AF2F4D0}"/>
              </a:ext>
            </a:extLst>
          </p:cNvPr>
          <p:cNvSpPr txBox="1"/>
          <p:nvPr/>
        </p:nvSpPr>
        <p:spPr>
          <a:xfrm>
            <a:off x="57150" y="1471910"/>
            <a:ext cx="120777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I analyzed the data and created some DAX measures to enrich my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To analyze the population data, I created several measures. These include the number of countries, the average population, and the population running total.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cs typeface="Times New Roman" panose="02020603050405020304" pitchFamily="18" charset="0"/>
              </a:rPr>
              <a:t>I created a report using charts and slicers based on the data.</a:t>
            </a:r>
          </a:p>
          <a:p>
            <a:endParaRPr lang="en-US" sz="36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0895-6C56-48D8-8FF0-01E94E0FBA6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97155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4000" dirty="0">
              <a:solidFill>
                <a:schemeClr val="bg1"/>
              </a:solidFill>
            </a:endParaRPr>
          </a:p>
          <a:p>
            <a:pPr algn="ctr"/>
            <a:r>
              <a:rPr lang="en-IN" sz="4000" dirty="0">
                <a:solidFill>
                  <a:srgbClr val="00B050"/>
                </a:solidFill>
              </a:rPr>
              <a:t>Key Statistics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236FE-CEAF-43F6-BE7C-711F6F800C40}"/>
              </a:ext>
            </a:extLst>
          </p:cNvPr>
          <p:cNvSpPr txBox="1">
            <a:spLocks/>
          </p:cNvSpPr>
          <p:nvPr/>
        </p:nvSpPr>
        <p:spPr>
          <a:xfrm>
            <a:off x="457200" y="1714500"/>
            <a:ext cx="9715500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Total World Population: 9.42 Billion</a:t>
            </a:r>
          </a:p>
          <a:p>
            <a:pPr marL="0" indent="0">
              <a:buNone/>
            </a:pP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Number of Countries Analyzed: 201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India Population: 1.46 Billion</a:t>
            </a:r>
          </a:p>
        </p:txBody>
      </p:sp>
    </p:spTree>
    <p:extLst>
      <p:ext uri="{BB962C8B-B14F-4D97-AF65-F5344CB8AC3E}">
        <p14:creationId xmlns:p14="http://schemas.microsoft.com/office/powerpoint/2010/main" val="945416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BC1F4-F835-AEAA-2254-4DB83BD372B1}"/>
              </a:ext>
            </a:extLst>
          </p:cNvPr>
          <p:cNvSpPr txBox="1"/>
          <p:nvPr/>
        </p:nvSpPr>
        <p:spPr>
          <a:xfrm>
            <a:off x="167148" y="471948"/>
            <a:ext cx="953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What is the composition of the male and female populations worldwide?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167D91-CA79-20CA-428B-18C4B9C9A489}"/>
              </a:ext>
            </a:extLst>
          </p:cNvPr>
          <p:cNvSpPr txBox="1"/>
          <p:nvPr/>
        </p:nvSpPr>
        <p:spPr>
          <a:xfrm>
            <a:off x="177132" y="1255610"/>
            <a:ext cx="11881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Globally, males and females make up almost equal shares of the population.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Although males slightly outnumber females, the overall gender composition remains largely balanced.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5EE859-94F1-429D-A056-24E6E4CF0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1" y="2716486"/>
            <a:ext cx="5172074" cy="381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4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F6253C-08FE-DF4F-DB32-264F78E2124C}"/>
              </a:ext>
            </a:extLst>
          </p:cNvPr>
          <p:cNvSpPr txBox="1"/>
          <p:nvPr/>
        </p:nvSpPr>
        <p:spPr>
          <a:xfrm>
            <a:off x="458046" y="259068"/>
            <a:ext cx="5368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Which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 region is highly populated?</a:t>
            </a:r>
            <a:endParaRPr lang="en-IN" sz="28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37F86-ED9B-D32D-BDE4-AAF29A67359F}"/>
              </a:ext>
            </a:extLst>
          </p:cNvPr>
          <p:cNvSpPr txBox="1"/>
          <p:nvPr/>
        </p:nvSpPr>
        <p:spPr>
          <a:xfrm>
            <a:off x="357818" y="1122471"/>
            <a:ext cx="10986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Among all the regions, Asia is the most populated, followed by Africa in second place, while Oceania is the least populated.</a:t>
            </a:r>
            <a:endParaRPr lang="en-IN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297008-4BC3-403B-A7A0-D9D9095D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543175"/>
            <a:ext cx="9329738" cy="416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85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8B5A38-EEE0-474C-70C1-CC17BB3ABEF7}"/>
              </a:ext>
            </a:extLst>
          </p:cNvPr>
          <p:cNvSpPr txBox="1"/>
          <p:nvPr/>
        </p:nvSpPr>
        <p:spPr>
          <a:xfrm>
            <a:off x="235974" y="259068"/>
            <a:ext cx="7157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Which age group category has the highest population?</a:t>
            </a:r>
            <a:endParaRPr lang="en-IN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3E3E3-BE8A-4CFB-840E-5ABC3DC0B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4014789"/>
            <a:ext cx="5743575" cy="258414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FBD7EB1-F03D-470A-9D35-992AF70FD00C}"/>
              </a:ext>
            </a:extLst>
          </p:cNvPr>
          <p:cNvSpPr/>
          <p:nvPr/>
        </p:nvSpPr>
        <p:spPr>
          <a:xfrm>
            <a:off x="466725" y="720733"/>
            <a:ext cx="1125855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population is evenly distributed across age groups, with </a:t>
            </a:r>
            <a:r>
              <a:rPr lang="en-US" sz="2000" b="1" dirty="0">
                <a:solidFill>
                  <a:schemeClr val="bg1"/>
                </a:solidFill>
              </a:rPr>
              <a:t>Young Adults and Senior Citizens</a:t>
            </a:r>
            <a:r>
              <a:rPr lang="en-US" sz="2000" dirty="0">
                <a:solidFill>
                  <a:schemeClr val="bg1"/>
                </a:solidFill>
              </a:rPr>
              <a:t> jointly representing the largest segments, each accounting for </a:t>
            </a:r>
            <a:r>
              <a:rPr lang="en-US" sz="2000" b="1" dirty="0">
                <a:solidFill>
                  <a:schemeClr val="bg1"/>
                </a:solidFill>
              </a:rPr>
              <a:t>25% of the total population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 contrast, </a:t>
            </a:r>
            <a:r>
              <a:rPr lang="en-US" sz="2000" b="1" dirty="0">
                <a:solidFill>
                  <a:schemeClr val="bg1"/>
                </a:solidFill>
              </a:rPr>
              <a:t>Teens</a:t>
            </a:r>
            <a:r>
              <a:rPr lang="en-US" sz="2000" dirty="0">
                <a:solidFill>
                  <a:schemeClr val="bg1"/>
                </a:solidFill>
              </a:rPr>
              <a:t> form the smallest age group, comprising only </a:t>
            </a:r>
            <a:r>
              <a:rPr lang="en-US" sz="2000" b="1" dirty="0">
                <a:solidFill>
                  <a:schemeClr val="bg1"/>
                </a:solidFill>
              </a:rPr>
              <a:t>7%</a:t>
            </a:r>
            <a:r>
              <a:rPr lang="en-US" sz="2000" dirty="0">
                <a:solidFill>
                  <a:schemeClr val="bg1"/>
                </a:solidFill>
              </a:rPr>
              <a:t> of the population.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</a:t>
            </a:r>
            <a:r>
              <a:rPr lang="en-US" sz="2000" b="1" dirty="0">
                <a:solidFill>
                  <a:schemeClr val="bg1"/>
                </a:solidFill>
              </a:rPr>
              <a:t>Children and Middle-aged</a:t>
            </a:r>
            <a:r>
              <a:rPr lang="en-US" sz="2000" dirty="0">
                <a:solidFill>
                  <a:schemeClr val="bg1"/>
                </a:solidFill>
              </a:rPr>
              <a:t> groups together make up </a:t>
            </a:r>
            <a:r>
              <a:rPr lang="en-US" sz="2000" b="1" dirty="0">
                <a:solidFill>
                  <a:schemeClr val="bg1"/>
                </a:solidFill>
              </a:rPr>
              <a:t>37%</a:t>
            </a:r>
            <a:r>
              <a:rPr lang="en-US" sz="2000" dirty="0">
                <a:solidFill>
                  <a:schemeClr val="bg1"/>
                </a:solidFill>
              </a:rPr>
              <a:t>, indicating a substantial share of the population in early developmental and active working-age stages.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Overall, the age distribution is relatively balanced, with no single age group overwhelmingly dominating the population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508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DEF106-3B76-6F1E-5110-D5BDB834B642}"/>
              </a:ext>
            </a:extLst>
          </p:cNvPr>
          <p:cNvSpPr txBox="1"/>
          <p:nvPr/>
        </p:nvSpPr>
        <p:spPr>
          <a:xfrm>
            <a:off x="235974" y="2590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400" b="1" dirty="0">
              <a:solidFill>
                <a:srgbClr val="3A9CA8"/>
              </a:solidFill>
              <a:highlight>
                <a:srgbClr val="C0C0C0"/>
              </a:highlight>
              <a:latin typeface="High Tower Text" panose="0204050205050603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B3ACE-6CB3-4FC1-02BD-2904BFF3B8CC}"/>
              </a:ext>
            </a:extLst>
          </p:cNvPr>
          <p:cNvSpPr txBox="1"/>
          <p:nvPr/>
        </p:nvSpPr>
        <p:spPr>
          <a:xfrm>
            <a:off x="235974" y="259068"/>
            <a:ext cx="861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What are the population trends across all regions over the years?</a:t>
            </a:r>
            <a:endParaRPr lang="en-IN" sz="2400" b="1" dirty="0">
              <a:solidFill>
                <a:schemeClr val="accent5">
                  <a:lumMod val="75000"/>
                </a:schemeClr>
              </a:solidFill>
              <a:latin typeface="High Tower Text" panose="02040502050506030303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2837526-8672-551D-53B2-BB15D5C78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74" y="786006"/>
            <a:ext cx="114226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bg1"/>
                </a:solidFill>
              </a:rPr>
              <a:t>Africa: </a:t>
            </a:r>
            <a:r>
              <a:rPr lang="en-US" dirty="0">
                <a:solidFill>
                  <a:schemeClr val="bg1"/>
                </a:solidFill>
              </a:rPr>
              <a:t>shows a steady and continuous increase in population over the years. The population begins at a relatively lower level and rises consistently throughout the timeline, reaching a significantly higher level by the end of the observed period. This reflects strong and sustained population growth.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4E0566-3599-A5D0-64CA-CF5BA1AFE954}"/>
              </a:ext>
            </a:extLst>
          </p:cNvPr>
          <p:cNvSpPr txBox="1"/>
          <p:nvPr/>
        </p:nvSpPr>
        <p:spPr>
          <a:xfrm>
            <a:off x="1138205" y="3413661"/>
            <a:ext cx="909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Africa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D25C8B-2DAD-D704-BB27-DC501A51FB08}"/>
              </a:ext>
            </a:extLst>
          </p:cNvPr>
          <p:cNvSpPr txBox="1"/>
          <p:nvPr/>
        </p:nvSpPr>
        <p:spPr>
          <a:xfrm>
            <a:off x="5417491" y="3414187"/>
            <a:ext cx="1199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Oceania</a:t>
            </a:r>
          </a:p>
          <a:p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B67B04-8454-8842-1FE5-7DE892FA4207}"/>
              </a:ext>
            </a:extLst>
          </p:cNvPr>
          <p:cNvSpPr txBox="1"/>
          <p:nvPr/>
        </p:nvSpPr>
        <p:spPr>
          <a:xfrm>
            <a:off x="9423041" y="3413661"/>
            <a:ext cx="2015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North America</a:t>
            </a:r>
          </a:p>
          <a:p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68AF2-4738-4048-A915-97C09730B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5" y="3940599"/>
            <a:ext cx="3696564" cy="26856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C20580-5FD2-498A-82E7-EF406577B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150" y="3913295"/>
            <a:ext cx="4010585" cy="2685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964598-C296-4833-A68B-999CD6072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801" y="3911815"/>
            <a:ext cx="4020111" cy="26594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DCCAFD-9837-48D1-A7AA-D0235F882746}"/>
              </a:ext>
            </a:extLst>
          </p:cNvPr>
          <p:cNvSpPr/>
          <p:nvPr/>
        </p:nvSpPr>
        <p:spPr>
          <a:xfrm>
            <a:off x="235974" y="1483738"/>
            <a:ext cx="114226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Oceania</a:t>
            </a:r>
            <a:r>
              <a:rPr lang="en-US" dirty="0">
                <a:solidFill>
                  <a:schemeClr val="bg1"/>
                </a:solidFill>
              </a:rPr>
              <a:t> : Experiences gradual but stable population growth across the years. Starting from a low base, the population increases steadily without major fluctuations, indicating consistent and reliable growth over time.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31E881-95CD-4EE6-ABB8-1B49CF231735}"/>
              </a:ext>
            </a:extLst>
          </p:cNvPr>
          <p:cNvSpPr/>
          <p:nvPr/>
        </p:nvSpPr>
        <p:spPr>
          <a:xfrm>
            <a:off x="235975" y="2425058"/>
            <a:ext cx="11422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North America : </a:t>
            </a:r>
            <a:r>
              <a:rPr lang="en-US" dirty="0">
                <a:solidFill>
                  <a:schemeClr val="bg1"/>
                </a:solidFill>
              </a:rPr>
              <a:t>Demonstrates a consistent upward population trend throughout the period. The population grows steadily from the initial years to the end of the timeline, highlighting sustained and stable population growth in the region.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0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67DFC1-4D8B-7BCF-BBF1-B4F63373E68D}"/>
              </a:ext>
            </a:extLst>
          </p:cNvPr>
          <p:cNvSpPr txBox="1"/>
          <p:nvPr/>
        </p:nvSpPr>
        <p:spPr>
          <a:xfrm>
            <a:off x="5926559" y="3090446"/>
            <a:ext cx="574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igh Tower Text" panose="02040502050506030303" pitchFamily="18" charset="0"/>
              </a:rPr>
              <a:t>Asia</a:t>
            </a:r>
            <a:endParaRPr lang="en-IN" sz="1600" dirty="0">
              <a:latin typeface="High Tower Text" panose="020405020505060303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B5410B-540F-C085-E0EA-55D5A532C444}"/>
              </a:ext>
            </a:extLst>
          </p:cNvPr>
          <p:cNvSpPr txBox="1"/>
          <p:nvPr/>
        </p:nvSpPr>
        <p:spPr>
          <a:xfrm>
            <a:off x="297424" y="290552"/>
            <a:ext cx="115971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South America: </a:t>
            </a:r>
            <a:r>
              <a:rPr lang="en-US" dirty="0">
                <a:solidFill>
                  <a:schemeClr val="bg1"/>
                </a:solidFill>
              </a:rPr>
              <a:t>Population shows a gradual increase during the early years, reaching its highest point around the middle of the timeline. After this peak, the population begins to decline steadily toward the later years, indicating a slowdown in overall growth.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743374-2C16-CA37-8E5B-FAA67FDB2680}"/>
              </a:ext>
            </a:extLst>
          </p:cNvPr>
          <p:cNvSpPr txBox="1"/>
          <p:nvPr/>
        </p:nvSpPr>
        <p:spPr>
          <a:xfrm>
            <a:off x="9907926" y="3090446"/>
            <a:ext cx="7954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igh Tower Text" panose="02040502050506030303" pitchFamily="18" charset="0"/>
              </a:rPr>
              <a:t>Europe</a:t>
            </a:r>
            <a:endParaRPr lang="en-IN" sz="1600" dirty="0">
              <a:latin typeface="High Tower Text" panose="020405020505060303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5DBAE8-E66E-67E6-B267-1CBF2AC04BE1}"/>
              </a:ext>
            </a:extLst>
          </p:cNvPr>
          <p:cNvSpPr txBox="1"/>
          <p:nvPr/>
        </p:nvSpPr>
        <p:spPr>
          <a:xfrm>
            <a:off x="297424" y="2311147"/>
            <a:ext cx="11597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Europe:</a:t>
            </a:r>
            <a:r>
              <a:rPr lang="en-US" dirty="0">
                <a:solidFill>
                  <a:schemeClr val="bg1"/>
                </a:solidFill>
              </a:rPr>
              <a:t> Europe experiences a modest population growth initially, peaking relatively early in the timeline. This is followed by a consistent downward trend, with the decline becoming more pronounced in later years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1EC31B-2067-4A31-BC4D-1EBF39855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3631695"/>
            <a:ext cx="3655836" cy="25119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DBA55A-48BC-4A11-96A6-248640C50B03}"/>
              </a:ext>
            </a:extLst>
          </p:cNvPr>
          <p:cNvSpPr txBox="1"/>
          <p:nvPr/>
        </p:nvSpPr>
        <p:spPr>
          <a:xfrm>
            <a:off x="1488663" y="3127712"/>
            <a:ext cx="1030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 Asia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458654-6551-4833-BAD9-EEF26C981406}"/>
              </a:ext>
            </a:extLst>
          </p:cNvPr>
          <p:cNvSpPr txBox="1"/>
          <p:nvPr/>
        </p:nvSpPr>
        <p:spPr>
          <a:xfrm>
            <a:off x="4945147" y="3130897"/>
            <a:ext cx="19628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 South America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AF8A1-EEAB-482A-8044-94D4B218D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8080" y="3631695"/>
            <a:ext cx="3655836" cy="2511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443F6-1063-4CD7-B270-02FE7F1D0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3248" y="3586162"/>
            <a:ext cx="3922540" cy="25574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F3D59BC-A35B-4AAC-B9D0-64C42F40A0F3}"/>
              </a:ext>
            </a:extLst>
          </p:cNvPr>
          <p:cNvSpPr txBox="1"/>
          <p:nvPr/>
        </p:nvSpPr>
        <p:spPr>
          <a:xfrm>
            <a:off x="9569452" y="3184219"/>
            <a:ext cx="1962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50000"/>
                  </a:schemeClr>
                </a:solidFill>
              </a:rPr>
              <a:t> Europe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DFB4E-429E-4C73-B881-D57F1DA3A40A}"/>
              </a:ext>
            </a:extLst>
          </p:cNvPr>
          <p:cNvSpPr/>
          <p:nvPr/>
        </p:nvSpPr>
        <p:spPr>
          <a:xfrm>
            <a:off x="297424" y="1254849"/>
            <a:ext cx="114897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Asia : </a:t>
            </a:r>
            <a:r>
              <a:rPr lang="en-US" dirty="0">
                <a:solidFill>
                  <a:schemeClr val="bg1"/>
                </a:solidFill>
              </a:rPr>
              <a:t>Experiences a strong and steady rise in population in the initial period, peaking around the mid-point of the timeline. Following this peak, the population shows a gradual downward trend toward the end of the period, suggesting a shift toward population stabilization or decline.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206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A2EA0D-5418-40AE-B3D3-42C73B39C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25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A90570-E86B-4DEA-A321-1F8C43C6BD90}"/>
              </a:ext>
            </a:extLst>
          </p:cNvPr>
          <p:cNvSpPr txBox="1">
            <a:spLocks/>
          </p:cNvSpPr>
          <p:nvPr/>
        </p:nvSpPr>
        <p:spPr>
          <a:xfrm>
            <a:off x="457199" y="303213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                       Key Insights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AD1514-4563-4BA6-8EDC-7FFE8A30378C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11515725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Young and middle-aged groups dominate the global population</a:t>
            </a:r>
          </a:p>
          <a:p>
            <a:pPr marL="0" indent="0">
              <a:buNone/>
            </a:pP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Asia and Africa drive global population growth</a:t>
            </a:r>
          </a:p>
          <a:p>
            <a:pPr marL="0" indent="0">
              <a:buNone/>
            </a:pP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Balanced gender ratio across the world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Long-term population growth trend remains positive</a:t>
            </a:r>
          </a:p>
        </p:txBody>
      </p:sp>
    </p:spTree>
    <p:extLst>
      <p:ext uri="{BB962C8B-B14F-4D97-AF65-F5344CB8AC3E}">
        <p14:creationId xmlns:p14="http://schemas.microsoft.com/office/powerpoint/2010/main" val="1280791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FEBC6-726D-E183-3C53-416C573B3B46}"/>
              </a:ext>
            </a:extLst>
          </p:cNvPr>
          <p:cNvSpPr txBox="1"/>
          <p:nvPr/>
        </p:nvSpPr>
        <p:spPr>
          <a:xfrm>
            <a:off x="1333629" y="366980"/>
            <a:ext cx="92104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  <a:endParaRPr lang="en-IN" sz="8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0A03C7-546E-4C18-9128-E24E582A78EA}"/>
              </a:ext>
            </a:extLst>
          </p:cNvPr>
          <p:cNvSpPr/>
          <p:nvPr/>
        </p:nvSpPr>
        <p:spPr>
          <a:xfrm>
            <a:off x="128588" y="1943100"/>
            <a:ext cx="1175861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World population continues to grow steadily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Demographic insights support policy and planning decisions</a:t>
            </a:r>
          </a:p>
          <a:p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Dashboard enables interactive and data-driven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Further analysis can include country-level and forecast insights</a:t>
            </a:r>
          </a:p>
        </p:txBody>
      </p:sp>
    </p:spTree>
    <p:extLst>
      <p:ext uri="{BB962C8B-B14F-4D97-AF65-F5344CB8AC3E}">
        <p14:creationId xmlns:p14="http://schemas.microsoft.com/office/powerpoint/2010/main" val="2963631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4AEF7-C019-F029-AF52-EE346A20D5F8}"/>
              </a:ext>
            </a:extLst>
          </p:cNvPr>
          <p:cNvSpPr txBox="1"/>
          <p:nvPr/>
        </p:nvSpPr>
        <p:spPr>
          <a:xfrm>
            <a:off x="3464015" y="2767280"/>
            <a:ext cx="52639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THANK</a:t>
            </a:r>
            <a:r>
              <a:rPr lang="en-US" sz="8000" b="1" dirty="0">
                <a:solidFill>
                  <a:srgbClr val="3A9CA8"/>
                </a:solidFill>
              </a:rPr>
              <a:t> </a:t>
            </a:r>
            <a:r>
              <a:rPr lang="en-US" sz="8000" b="1" dirty="0">
                <a:solidFill>
                  <a:schemeClr val="accent6">
                    <a:lumMod val="75000"/>
                  </a:schemeClr>
                </a:solidFill>
              </a:rPr>
              <a:t>YOU</a:t>
            </a:r>
            <a:endParaRPr lang="en-IN" sz="8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97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570</TotalTime>
  <Words>745</Words>
  <Application>Microsoft Office PowerPoint</Application>
  <PresentationFormat>Widescreen</PresentationFormat>
  <Paragraphs>97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High Tower Text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POPULATION DATA ANALYSIS</dc:title>
  <dc:creator>Chiranjeevi naidu</dc:creator>
  <cp:lastModifiedBy>Balasubramanya</cp:lastModifiedBy>
  <cp:revision>17</cp:revision>
  <dcterms:created xsi:type="dcterms:W3CDTF">2024-12-05T10:29:13Z</dcterms:created>
  <dcterms:modified xsi:type="dcterms:W3CDTF">2025-12-31T21:32:01Z</dcterms:modified>
</cp:coreProperties>
</file>